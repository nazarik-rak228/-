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2" r:id="rId3"/>
    <p:sldId id="265" r:id="rId4"/>
    <p:sldId id="278" r:id="rId5"/>
    <p:sldId id="288" r:id="rId6"/>
    <p:sldId id="289" r:id="rId7"/>
    <p:sldId id="290" r:id="rId8"/>
    <p:sldId id="291" r:id="rId9"/>
    <p:sldId id="292" r:id="rId10"/>
    <p:sldId id="293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70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8" d="100"/>
          <a:sy n="98" d="100"/>
        </p:scale>
        <p:origin x="78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0A1A5D-5A81-47DB-BE2C-03E0990F0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0200"/>
            <a:ext cx="9144000" cy="19431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D18D89D-FEB0-4064-AD3B-357BF020BC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08CCA0-7AC9-4458-99BC-25257703B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985775-DA12-4519-AD4E-BF0D8B5A28A2}" type="datetimeFigureOut">
              <a:rPr lang="ru-RU" smtClean="0"/>
              <a:pPr/>
              <a:t>28.09.2024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7410E7-85CD-46DA-BC17-903832138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C549DF-D60D-41D0-9ADE-DA8EA16AD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9F1CE1-AE97-4474-A621-9FAA4F63F5A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7665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C2F858-143C-49BF-AC24-DDE5A5694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607090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A1AEBE-8905-4864-B3FD-4CD04946E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A079D8C-B135-4B29-9B74-4C89FD7E531F}"/>
              </a:ext>
            </a:extLst>
          </p:cNvPr>
          <p:cNvSpPr/>
          <p:nvPr userDrawn="1"/>
        </p:nvSpPr>
        <p:spPr>
          <a:xfrm>
            <a:off x="8625840" y="6644640"/>
            <a:ext cx="3600000" cy="213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F0D1648-B806-40EE-B6E3-7634106F579D}"/>
              </a:ext>
            </a:extLst>
          </p:cNvPr>
          <p:cNvSpPr/>
          <p:nvPr userDrawn="1"/>
        </p:nvSpPr>
        <p:spPr>
          <a:xfrm>
            <a:off x="0" y="-22383"/>
            <a:ext cx="3600000" cy="213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D45F2DE-3202-46E3-A4DF-1E1F8D2367F3}"/>
              </a:ext>
            </a:extLst>
          </p:cNvPr>
          <p:cNvSpPr/>
          <p:nvPr userDrawn="1"/>
        </p:nvSpPr>
        <p:spPr>
          <a:xfrm rot="16200000">
            <a:off x="8820811" y="3139757"/>
            <a:ext cx="6492875" cy="2133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4E4023C-83D7-4B9B-83E0-97AB0F4AC43B}"/>
              </a:ext>
            </a:extLst>
          </p:cNvPr>
          <p:cNvSpPr/>
          <p:nvPr userDrawn="1"/>
        </p:nvSpPr>
        <p:spPr>
          <a:xfrm rot="16200000">
            <a:off x="-3139758" y="3504883"/>
            <a:ext cx="6492875" cy="2133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7804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C2F858-143C-49BF-AC24-DDE5A5694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870539" cy="1325563"/>
          </a:xfrm>
        </p:spPr>
        <p:txBody>
          <a:bodyPr/>
          <a:lstStyle>
            <a:lvl1pPr>
              <a:defRPr b="1">
                <a:solidFill>
                  <a:srgbClr val="607090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A1AEBE-8905-4864-B3FD-4CD04946E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70539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8B632DE5-F5F2-4462-94DA-690026333B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032750" y="0"/>
            <a:ext cx="4159250" cy="6858000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2334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1134973-9603-4EB5-B737-91F29D4CD883}"/>
              </a:ext>
            </a:extLst>
          </p:cNvPr>
          <p:cNvSpPr/>
          <p:nvPr userDrawn="1"/>
        </p:nvSpPr>
        <p:spPr>
          <a:xfrm>
            <a:off x="563880" y="428043"/>
            <a:ext cx="11155680" cy="5991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AAAB7C-7C1B-4105-BE24-F811EBB40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607090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ECA37A-4894-4A33-9EBE-8B2E35025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83A43-64E5-4616-89E6-626296516E98}" type="datetimeFigureOut">
              <a:rPr lang="ru-RU" smtClean="0"/>
              <a:t>28.09.2024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230E9E2-71FB-4D16-B449-EA5254AC7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F10A82-3FA8-48BC-A562-4BDCC940C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B69BD-07F3-416C-B560-DF49FE6E3236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F0D9FAC9-46ED-4B2F-8516-B63FF235431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0" y="2301875"/>
            <a:ext cx="4895129" cy="1568450"/>
          </a:xfrm>
        </p:spPr>
        <p:txBody>
          <a:bodyPr/>
          <a:lstStyle/>
          <a:p>
            <a:endParaRPr lang="ru-RU"/>
          </a:p>
        </p:txBody>
      </p:sp>
      <p:sp>
        <p:nvSpPr>
          <p:cNvPr id="21" name="Текст 14">
            <a:extLst>
              <a:ext uri="{FF2B5EF4-FFF2-40B4-BE49-F238E27FC236}">
                <a16:creationId xmlns:a16="http://schemas.microsoft.com/office/drawing/2014/main" id="{4413139B-1729-455B-B830-4DAB12D9B25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58672" y="4428023"/>
            <a:ext cx="4879887" cy="1355725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2" name="Текст 14">
            <a:extLst>
              <a:ext uri="{FF2B5EF4-FFF2-40B4-BE49-F238E27FC236}">
                <a16:creationId xmlns:a16="http://schemas.microsoft.com/office/drawing/2014/main" id="{222B09F7-7246-4274-A513-9BEACBF61E1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1" y="4428022"/>
            <a:ext cx="4879888" cy="1355725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2" name="Рисунок 9">
            <a:extLst>
              <a:ext uri="{FF2B5EF4-FFF2-40B4-BE49-F238E27FC236}">
                <a16:creationId xmlns:a16="http://schemas.microsoft.com/office/drawing/2014/main" id="{4B61BE1B-0619-47D5-8D00-1DBE9B7F40B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458672" y="2320617"/>
            <a:ext cx="4940847" cy="1568450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6887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14E300-70A9-4046-B13A-C580CDF08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607090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2941CF8-4508-43CA-BA33-C0B9ED753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5775-DA12-4519-AD4E-BF0D8B5A28A2}" type="datetimeFigureOut">
              <a:rPr lang="ru-RU" smtClean="0"/>
              <a:t>28.09.2024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F7B9934-7384-4A83-8B0E-FFF486DDF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4F36D14-7448-4ACB-B1EC-DDDAAA955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F1CE1-AE97-4474-A621-9FAA4F63F5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3438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C2F858-143C-49BF-AC24-DDE5A5694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A1AEBE-8905-4864-B3FD-4CD04946E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72816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6F616B-C814-43CB-9D66-2ACCE175F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8AE93A1-6738-46E4-8F22-EE921A983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C78392C-C9F7-4DEF-AA81-542C2AAC7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5775-DA12-4519-AD4E-BF0D8B5A28A2}" type="datetimeFigureOut">
              <a:rPr lang="ru-RU" smtClean="0"/>
              <a:t>28.09.2024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0A34EB-7EF1-4575-A605-E6075A635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F6B72C-E973-4717-9B32-EB861DCB2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F1CE1-AE97-4474-A621-9FAA4F63F5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8719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9AC03E-CC96-46B4-8F06-809941B60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D83CB0-A9EB-4FCC-AFF1-9C0719455B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2A519CA-8C32-464E-AB8C-C7DAE493BF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9389CDC-954B-4F3C-8708-20D835E73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5775-DA12-4519-AD4E-BF0D8B5A28A2}" type="datetimeFigureOut">
              <a:rPr lang="ru-RU" smtClean="0"/>
              <a:t>28.09.2024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021DA71-9B62-4B5B-9FC5-8A2FE4CE5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BC5407C-33E1-4753-B9AC-F00DBA808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F1CE1-AE97-4474-A621-9FAA4F63F5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0741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663584-63A5-4369-B563-05FB35552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38BDB9A-93BD-4EBA-9434-1716F89768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C6B4D10-58E3-4843-B773-ACE304291F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F791276-15DC-4AAA-A29A-7294AAED51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984DE98-0C02-460E-AEB8-1FFCF6EE59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AE545B8-BE5D-416A-A9C4-DD9421383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5775-DA12-4519-AD4E-BF0D8B5A28A2}" type="datetimeFigureOut">
              <a:rPr lang="ru-RU" smtClean="0"/>
              <a:t>28.09.2024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03D84F0-63EB-4F1F-A304-21FC57730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6BA2A66-252D-4BBD-AD7E-3C84EC958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F1CE1-AE97-4474-A621-9FAA4F63F5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7985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A3F95C-774F-4E30-AE17-04AC0612D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A740606-3AD8-42ED-B129-A3DEC06BC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5775-DA12-4519-AD4E-BF0D8B5A28A2}" type="datetimeFigureOut">
              <a:rPr lang="ru-RU" smtClean="0"/>
              <a:t>28.09.2024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47C616E-EC5D-4161-B871-4DBFA23F1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17A186C-6BE5-484A-94F6-B5CFB1FB3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F1CE1-AE97-4474-A621-9FAA4F63F5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5219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4059D37-F92B-4726-A34B-164AC46F6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5775-DA12-4519-AD4E-BF0D8B5A28A2}" type="datetimeFigureOut">
              <a:rPr lang="ru-RU" smtClean="0"/>
              <a:t>28.09.2024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EB8A300-DCC2-4DBC-89F3-19460679B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AE01FBC-E1B1-44CF-B5F4-B0621F58B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F1CE1-AE97-4474-A621-9FAA4F63F5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7877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CDE81A-B789-490D-9823-1DCB79555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E3DE41-335B-4255-BD1B-1BD5FD769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1CDC965-EE27-49DE-926C-3E4E5F353E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187F107-3B06-47AE-890B-4028A5F72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5775-DA12-4519-AD4E-BF0D8B5A28A2}" type="datetimeFigureOut">
              <a:rPr lang="ru-RU" smtClean="0"/>
              <a:t>28.09.2024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4E7A224-216B-43E1-A95E-10F95BB0F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5BF9C8F-012F-410C-9624-42ADB56B0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F1CE1-AE97-4474-A621-9FAA4F63F5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38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7FA0CA-376B-46DC-813B-5E5FBFAAC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1EBA494-E82E-4757-A3C0-955EA65D11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3117C38-1525-4DAA-A6A8-79732457C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CF361C5-F126-4C0B-AE3A-2CBA980EF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5775-DA12-4519-AD4E-BF0D8B5A28A2}" type="datetimeFigureOut">
              <a:rPr lang="ru-RU" smtClean="0"/>
              <a:t>28.09.2024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F4F4485-29FD-4F98-96FC-E5D8DCB98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942FB67-03FB-449E-89B5-DF67F63DA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F1CE1-AE97-4474-A621-9FAA4F63F5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1768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75B5E7-60F9-464C-B174-D06589C57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28484D1-D333-4AE1-BBFC-CD1DEC20F3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4A59D6A-B58D-4E95-A396-200C9B9BC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5775-DA12-4519-AD4E-BF0D8B5A28A2}" type="datetimeFigureOut">
              <a:rPr lang="ru-RU" smtClean="0"/>
              <a:t>28.09.2024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B437D5-797B-49CA-AD3B-BE3CAF57E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1F4BFD-DCAB-4FA8-B42C-658D6832F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F1CE1-AE97-4474-A621-9FAA4F63F5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8691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DD7D349-5ABD-40CA-91CD-9AC19B7C01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28E4FE5-4CB9-457C-9776-A6FC25BBA2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DF420E-C006-48BA-ACD0-A009889F4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5775-DA12-4519-AD4E-BF0D8B5A28A2}" type="datetimeFigureOut">
              <a:rPr lang="ru-RU" smtClean="0"/>
              <a:t>28.09.2024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6841BA-4A5C-4F80-82B2-3FE13D1DF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5348BA-A8D9-4752-9849-D1F480476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F1CE1-AE97-4474-A621-9FAA4F63F5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7169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hyperlink" Target="https://presentation-creation.ru/" TargetMode="Externa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569195-B136-450A-9EBB-E4D32554B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C56AFD3-762E-431D-8169-48E9431F2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0B0A7F1-90CF-4B8D-9FE0-9796384F4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985775-DA12-4519-AD4E-BF0D8B5A28A2}" type="datetimeFigureOut">
              <a:rPr lang="ru-RU" smtClean="0"/>
              <a:t>28.09.2024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22E4D6C-F1D3-4A14-8D0D-B4CCD0AC81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ACE525-741D-45DF-830F-DE1754B074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F1CE1-AE97-4474-A621-9FAA4F63F5A7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7"/>
            <a:extLst>
              <a:ext uri="{FF2B5EF4-FFF2-40B4-BE49-F238E27FC236}">
                <a16:creationId xmlns:a16="http://schemas.microsoft.com/office/drawing/2014/main" id="{5B02C175-E080-45D1-9C7B-D1AA06E5A429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194000" y="367393"/>
            <a:ext cx="757762" cy="7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726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3" r:id="rId4"/>
    <p:sldLayoutId id="2147483661" r:id="rId5"/>
    <p:sldLayoutId id="214748366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CDEC4D-D759-4813-A282-A0DE6A4A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72448"/>
            <a:ext cx="10515600" cy="3119334"/>
          </a:xfrm>
        </p:spPr>
        <p:txBody>
          <a:bodyPr>
            <a:normAutofit fontScale="90000"/>
          </a:bodyPr>
          <a:lstStyle/>
          <a:p>
            <a:pPr algn="ctr"/>
            <a:br>
              <a:rPr lang="ru-RU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ЛЕКЦИЯ №4.</a:t>
            </a:r>
            <a:br>
              <a:rPr lang="ru-RU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Символьные и строковые типы данных. Классы для работы со строками в </a:t>
            </a:r>
            <a:r>
              <a:rPr lang="en-US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Java.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740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8E32E4F7-E96D-4D4B-9BA7-80A1A5CE8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0730" y="26166"/>
            <a:ext cx="6870539" cy="1325563"/>
          </a:xfrm>
        </p:spPr>
        <p:txBody>
          <a:bodyPr/>
          <a:lstStyle/>
          <a:p>
            <a:pPr algn="ctr"/>
            <a:r>
              <a:rPr lang="ru-RU" i="1" dirty="0"/>
              <a:t>Типы данных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2345D87-D586-483C-8FF2-5864ADE87ADC}"/>
              </a:ext>
            </a:extLst>
          </p:cNvPr>
          <p:cNvSpPr/>
          <p:nvPr/>
        </p:nvSpPr>
        <p:spPr>
          <a:xfrm>
            <a:off x="3710979" y="2221847"/>
            <a:ext cx="1851950" cy="31135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9BC800C-525A-41F8-854B-7DA4857FD801}"/>
              </a:ext>
            </a:extLst>
          </p:cNvPr>
          <p:cNvSpPr/>
          <p:nvPr/>
        </p:nvSpPr>
        <p:spPr>
          <a:xfrm>
            <a:off x="6590115" y="2221847"/>
            <a:ext cx="1851950" cy="311359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Текст 8">
            <a:extLst>
              <a:ext uri="{FF2B5EF4-FFF2-40B4-BE49-F238E27FC236}">
                <a16:creationId xmlns:a16="http://schemas.microsoft.com/office/drawing/2014/main" id="{F075C86B-C075-4CC8-91DF-A2049B89FFCE}"/>
              </a:ext>
            </a:extLst>
          </p:cNvPr>
          <p:cNvSpPr txBox="1">
            <a:spLocks/>
          </p:cNvSpPr>
          <p:nvPr/>
        </p:nvSpPr>
        <p:spPr>
          <a:xfrm>
            <a:off x="3799590" y="2747832"/>
            <a:ext cx="1674728" cy="103632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ru-RU" sz="1800" dirty="0">
                <a:solidFill>
                  <a:schemeClr val="bg1"/>
                </a:solidFill>
              </a:rPr>
              <a:t>Символьные</a:t>
            </a:r>
            <a:r>
              <a:rPr lang="en-US" sz="1800" dirty="0">
                <a:solidFill>
                  <a:schemeClr val="bg1"/>
                </a:solidFill>
              </a:rPr>
              <a:t>: char</a:t>
            </a:r>
            <a:endParaRPr lang="ru-RU" sz="1800" dirty="0">
              <a:solidFill>
                <a:schemeClr val="bg1"/>
              </a:solidFill>
            </a:endParaRP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6EC656BC-F301-484C-8375-D4D8183F4255}"/>
              </a:ext>
            </a:extLst>
          </p:cNvPr>
          <p:cNvSpPr txBox="1">
            <a:spLocks/>
          </p:cNvSpPr>
          <p:nvPr/>
        </p:nvSpPr>
        <p:spPr>
          <a:xfrm>
            <a:off x="6678726" y="2852473"/>
            <a:ext cx="1674728" cy="103632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 sz="1800" dirty="0">
                <a:solidFill>
                  <a:schemeClr val="bg1"/>
                </a:solidFill>
              </a:rPr>
              <a:t>Строковые</a:t>
            </a:r>
            <a:r>
              <a:rPr lang="en-US" sz="1800" dirty="0">
                <a:solidFill>
                  <a:schemeClr val="bg1"/>
                </a:solidFill>
              </a:rPr>
              <a:t>: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bg1"/>
                </a:solidFill>
              </a:rPr>
              <a:t>String</a:t>
            </a:r>
            <a:endParaRPr lang="ru-RU" sz="1800" dirty="0">
              <a:solidFill>
                <a:schemeClr val="bg1"/>
              </a:solidFill>
            </a:endParaRP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60C9310F-F07D-4D85-ADAF-F01907FC4A98}"/>
              </a:ext>
            </a:extLst>
          </p:cNvPr>
          <p:cNvSpPr/>
          <p:nvPr/>
        </p:nvSpPr>
        <p:spPr>
          <a:xfrm>
            <a:off x="4118794" y="4817277"/>
            <a:ext cx="1036320" cy="103632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16200000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C82EC5B0-23AB-4070-BA77-489DFA03896C}"/>
              </a:ext>
            </a:extLst>
          </p:cNvPr>
          <p:cNvSpPr/>
          <p:nvPr/>
        </p:nvSpPr>
        <p:spPr>
          <a:xfrm>
            <a:off x="6997930" y="4817277"/>
            <a:ext cx="1036320" cy="103632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6200000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A13F02C5-D91C-41C8-A768-087FD6AD5394}"/>
              </a:ext>
            </a:extLst>
          </p:cNvPr>
          <p:cNvSpPr/>
          <p:nvPr/>
        </p:nvSpPr>
        <p:spPr>
          <a:xfrm rot="16200000">
            <a:off x="-2115012" y="3313252"/>
            <a:ext cx="4461521" cy="23149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2693E34A-F2A7-4E9A-9A78-F0DE68BFAC43}"/>
              </a:ext>
            </a:extLst>
          </p:cNvPr>
          <p:cNvSpPr/>
          <p:nvPr/>
        </p:nvSpPr>
        <p:spPr>
          <a:xfrm rot="16200000">
            <a:off x="9845491" y="3313250"/>
            <a:ext cx="4461521" cy="23149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C84D4753-3360-49BD-A3B5-EF2A1C097D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30198" y="5030359"/>
            <a:ext cx="590312" cy="590312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C689A952-05C4-4BFE-B728-1E7389FD15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55694" y="5025398"/>
            <a:ext cx="590312" cy="59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064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7DCEB88-7494-41C0-AFE7-583F02A3B2EC}"/>
              </a:ext>
            </a:extLst>
          </p:cNvPr>
          <p:cNvSpPr/>
          <p:nvPr/>
        </p:nvSpPr>
        <p:spPr>
          <a:xfrm>
            <a:off x="1465634" y="4831404"/>
            <a:ext cx="9202366" cy="155642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450AF9F7-281C-4F9E-BABF-05CBB22A9EA9}"/>
              </a:ext>
            </a:extLst>
          </p:cNvPr>
          <p:cNvSpPr/>
          <p:nvPr/>
        </p:nvSpPr>
        <p:spPr>
          <a:xfrm rot="16200000">
            <a:off x="4365347" y="-2590254"/>
            <a:ext cx="3461306" cy="10759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A59A394-BE77-4359-93AF-CF1DEA74E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0"/>
            <a:ext cx="10515600" cy="1325563"/>
          </a:xfrm>
        </p:spPr>
        <p:txBody>
          <a:bodyPr/>
          <a:lstStyle/>
          <a:p>
            <a:pPr algn="ctr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DB8ED6A0-A551-4B65-AB25-62AE2EE9F83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24474" y="1295739"/>
            <a:ext cx="9543050" cy="3224382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ru-RU" sz="1600" b="0" i="0" dirty="0">
                <a:solidFill>
                  <a:srgbClr val="333333"/>
                </a:solidFill>
                <a:effectLst/>
                <a:latin typeface="IBM Plex Sans" panose="020B0503050203000203" pitchFamily="34" charset="0"/>
              </a:rPr>
              <a:t> </a:t>
            </a: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представляет собой 16-битный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Unicode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символ. Этот примитивный тип данных используется для хранения отдельных символов, таких как буквы, цифры, знаки препинания и специальные символы.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представляет отдельный символ и записывается в одинарных кавычках.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9DBC35E-48E7-462C-9C9D-0CBCE2EA9228}"/>
              </a:ext>
            </a:extLst>
          </p:cNvPr>
          <p:cNvSpPr/>
          <p:nvPr/>
        </p:nvSpPr>
        <p:spPr>
          <a:xfrm rot="16200000">
            <a:off x="-1563133" y="5057094"/>
            <a:ext cx="3364040" cy="23777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7244B79-61B0-4DBC-816D-C65406D31146}"/>
              </a:ext>
            </a:extLst>
          </p:cNvPr>
          <p:cNvSpPr/>
          <p:nvPr/>
        </p:nvSpPr>
        <p:spPr>
          <a:xfrm rot="5400000">
            <a:off x="9195614" y="2799614"/>
            <a:ext cx="5796000" cy="19677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0FC6A9-66BF-4883-AD2B-13D793C75E32}"/>
              </a:ext>
            </a:extLst>
          </p:cNvPr>
          <p:cNvSpPr txBox="1"/>
          <p:nvPr/>
        </p:nvSpPr>
        <p:spPr>
          <a:xfrm>
            <a:off x="716279" y="4831404"/>
            <a:ext cx="10665083" cy="1679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 symbol1 = 1078; //</a:t>
            </a:r>
            <a:r>
              <a:rPr lang="ru-RU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 индексу символа в таблице </a:t>
            </a:r>
            <a:r>
              <a:rPr lang="en-US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UTF-8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 symbol2 = '</a:t>
            </a:r>
            <a:r>
              <a:rPr lang="ru-RU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ж'; //по значению символа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 symbol3 = '\u0436'; //</a:t>
            </a:r>
            <a:r>
              <a:rPr lang="ru-RU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через шестнадцатеричную форму </a:t>
            </a:r>
            <a:r>
              <a:rPr lang="en-US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Unicode (</a:t>
            </a:r>
            <a:r>
              <a:rPr lang="ru-RU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это всё ещё «ж»)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21566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450AF9F7-281C-4F9E-BABF-05CBB22A9EA9}"/>
              </a:ext>
            </a:extLst>
          </p:cNvPr>
          <p:cNvSpPr/>
          <p:nvPr/>
        </p:nvSpPr>
        <p:spPr>
          <a:xfrm rot="16200000">
            <a:off x="4166198" y="-2076036"/>
            <a:ext cx="3756975" cy="99724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A59A394-BE77-4359-93AF-CF1DEA74E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0"/>
            <a:ext cx="10515600" cy="1325563"/>
          </a:xfrm>
        </p:spPr>
        <p:txBody>
          <a:bodyPr/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DB8ED6A0-A551-4B65-AB25-62AE2EE9F83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02300" y="1236293"/>
            <a:ext cx="9587400" cy="3306216"/>
          </a:xfrm>
        </p:spPr>
        <p:txBody>
          <a:bodyPr>
            <a:normAutofit/>
          </a:bodyPr>
          <a:lstStyle/>
          <a:p>
            <a:pPr indent="450000" algn="l">
              <a:lnSpc>
                <a:spcPct val="150000"/>
              </a:lnSpc>
            </a:pP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Строка представляет собой последовательность символов. Для работы со строками в Java определен класс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который предоставляет ряд методов для манипуляции строками. Физически объект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представляет собой ссылку на область в памяти, в которой размещены символы.</a:t>
            </a:r>
          </a:p>
          <a:p>
            <a:pPr indent="450000" algn="l">
              <a:lnSpc>
                <a:spcPct val="150000"/>
              </a:lnSpc>
            </a:pP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создания новой строки мы можем использовать один из конструкторов класса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либо напрямую присвоить строку в двойных кавычках:</a:t>
            </a:r>
          </a:p>
          <a:p>
            <a:pPr marL="0" indent="0" algn="ctr">
              <a:lnSpc>
                <a:spcPct val="150000"/>
              </a:lnSpc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9DBC35E-48E7-462C-9C9D-0CBCE2EA9228}"/>
              </a:ext>
            </a:extLst>
          </p:cNvPr>
          <p:cNvSpPr/>
          <p:nvPr/>
        </p:nvSpPr>
        <p:spPr>
          <a:xfrm rot="16200000">
            <a:off x="-1563133" y="5057094"/>
            <a:ext cx="3364040" cy="23777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7244B79-61B0-4DBC-816D-C65406D31146}"/>
              </a:ext>
            </a:extLst>
          </p:cNvPr>
          <p:cNvSpPr/>
          <p:nvPr/>
        </p:nvSpPr>
        <p:spPr>
          <a:xfrm rot="5400000">
            <a:off x="9195614" y="2799614"/>
            <a:ext cx="5796000" cy="19677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BEF7791-1E59-4480-9D43-9F1753FC0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264" y="4991649"/>
            <a:ext cx="11322432" cy="1058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911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450AF9F7-281C-4F9E-BABF-05CBB22A9EA9}"/>
              </a:ext>
            </a:extLst>
          </p:cNvPr>
          <p:cNvSpPr/>
          <p:nvPr/>
        </p:nvSpPr>
        <p:spPr>
          <a:xfrm rot="16200000">
            <a:off x="5123770" y="-3033607"/>
            <a:ext cx="2042802" cy="101734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A59A394-BE77-4359-93AF-CF1DEA74E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0"/>
            <a:ext cx="10515600" cy="1325563"/>
          </a:xfrm>
        </p:spPr>
        <p:txBody>
          <a:bodyPr/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DB8ED6A0-A551-4B65-AB25-62AE2EE9F83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02300" y="1236293"/>
            <a:ext cx="9587400" cy="3306216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ru-RU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Поскольку строка рассматривается как набор символов, то мы можем применить метод </a:t>
            </a:r>
            <a:r>
              <a:rPr lang="ru-RU" sz="2400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lang="ru-RU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для нахождения длины строки или длины набора символов: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9DBC35E-48E7-462C-9C9D-0CBCE2EA9228}"/>
              </a:ext>
            </a:extLst>
          </p:cNvPr>
          <p:cNvSpPr/>
          <p:nvPr/>
        </p:nvSpPr>
        <p:spPr>
          <a:xfrm rot="16200000">
            <a:off x="-1563133" y="5057094"/>
            <a:ext cx="3364040" cy="23777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7244B79-61B0-4DBC-816D-C65406D31146}"/>
              </a:ext>
            </a:extLst>
          </p:cNvPr>
          <p:cNvSpPr/>
          <p:nvPr/>
        </p:nvSpPr>
        <p:spPr>
          <a:xfrm rot="5400000">
            <a:off x="9195614" y="2799614"/>
            <a:ext cx="5796000" cy="19677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C627FD-F0E7-4B81-9641-E0B03F5E5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5418" y="4003647"/>
            <a:ext cx="4401164" cy="56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313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450AF9F7-281C-4F9E-BABF-05CBB22A9EA9}"/>
              </a:ext>
            </a:extLst>
          </p:cNvPr>
          <p:cNvSpPr/>
          <p:nvPr/>
        </p:nvSpPr>
        <p:spPr>
          <a:xfrm rot="16200000">
            <a:off x="5123770" y="-3033607"/>
            <a:ext cx="2042802" cy="101734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A59A394-BE77-4359-93AF-CF1DEA74E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0"/>
            <a:ext cx="10515600" cy="1325563"/>
          </a:xfrm>
        </p:spPr>
        <p:txBody>
          <a:bodyPr/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DB8ED6A0-A551-4B65-AB25-62AE2EE9F83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02300" y="1236293"/>
            <a:ext cx="9587400" cy="3306216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ru-RU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 с помощью метода </a:t>
            </a:r>
            <a:r>
              <a:rPr lang="ru-RU" sz="2400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toCharArray</a:t>
            </a:r>
            <a:r>
              <a:rPr lang="ru-RU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можно обратно преобразовать строку в массив символов: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9DBC35E-48E7-462C-9C9D-0CBCE2EA9228}"/>
              </a:ext>
            </a:extLst>
          </p:cNvPr>
          <p:cNvSpPr/>
          <p:nvPr/>
        </p:nvSpPr>
        <p:spPr>
          <a:xfrm rot="16200000">
            <a:off x="-1563133" y="5057094"/>
            <a:ext cx="3364040" cy="23777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7244B79-61B0-4DBC-816D-C65406D31146}"/>
              </a:ext>
            </a:extLst>
          </p:cNvPr>
          <p:cNvSpPr/>
          <p:nvPr/>
        </p:nvSpPr>
        <p:spPr>
          <a:xfrm rot="5400000">
            <a:off x="9195614" y="2799614"/>
            <a:ext cx="5796000" cy="19677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4B5E70A-3D2D-44FD-B3D9-F244FDBFD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705" y="4261482"/>
            <a:ext cx="7268589" cy="56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927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450AF9F7-281C-4F9E-BABF-05CBB22A9EA9}"/>
              </a:ext>
            </a:extLst>
          </p:cNvPr>
          <p:cNvSpPr/>
          <p:nvPr/>
        </p:nvSpPr>
        <p:spPr>
          <a:xfrm rot="16200000">
            <a:off x="5123770" y="-3033607"/>
            <a:ext cx="2042802" cy="101734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A59A394-BE77-4359-93AF-CF1DEA74E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0"/>
            <a:ext cx="10515600" cy="1325563"/>
          </a:xfrm>
        </p:spPr>
        <p:txBody>
          <a:bodyPr/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DB8ED6A0-A551-4B65-AB25-62AE2EE9F83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02300" y="1236293"/>
            <a:ext cx="9587400" cy="3306216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ru-RU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Класс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имеет специальный метод, который позволяет проверить строку на пустоту - </a:t>
            </a:r>
            <a:r>
              <a:rPr lang="ru-RU" sz="2400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isEmpty</a:t>
            </a:r>
            <a:r>
              <a:rPr lang="ru-RU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Если строка пуста, он возвращает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9DBC35E-48E7-462C-9C9D-0CBCE2EA9228}"/>
              </a:ext>
            </a:extLst>
          </p:cNvPr>
          <p:cNvSpPr/>
          <p:nvPr/>
        </p:nvSpPr>
        <p:spPr>
          <a:xfrm rot="16200000">
            <a:off x="-1563133" y="5057094"/>
            <a:ext cx="3364040" cy="23777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7244B79-61B0-4DBC-816D-C65406D31146}"/>
              </a:ext>
            </a:extLst>
          </p:cNvPr>
          <p:cNvSpPr/>
          <p:nvPr/>
        </p:nvSpPr>
        <p:spPr>
          <a:xfrm rot="5400000">
            <a:off x="9195614" y="2799614"/>
            <a:ext cx="5796000" cy="19677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E910E57-8869-4653-A6A0-F6B4B4DA1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8048" y="4232903"/>
            <a:ext cx="6115904" cy="61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584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450AF9F7-281C-4F9E-BABF-05CBB22A9EA9}"/>
              </a:ext>
            </a:extLst>
          </p:cNvPr>
          <p:cNvSpPr/>
          <p:nvPr/>
        </p:nvSpPr>
        <p:spPr>
          <a:xfrm rot="16200000">
            <a:off x="5123770" y="-3033607"/>
            <a:ext cx="2042802" cy="101734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A59A394-BE77-4359-93AF-CF1DEA74E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0"/>
            <a:ext cx="10515600" cy="1325563"/>
          </a:xfrm>
        </p:spPr>
        <p:txBody>
          <a:bodyPr/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DB8ED6A0-A551-4B65-AB25-62AE2EE9F83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02300" y="1236293"/>
            <a:ext cx="9587400" cy="3306216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Переменная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может не указывать на какой-либо объект и иметь значение </a:t>
            </a:r>
            <a:r>
              <a:rPr lang="ru-RU" sz="24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Значение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не эквивалентно пустой строке. Например, в следующем случае мы столкнемся с ошибкой выполнения: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9DBC35E-48E7-462C-9C9D-0CBCE2EA9228}"/>
              </a:ext>
            </a:extLst>
          </p:cNvPr>
          <p:cNvSpPr/>
          <p:nvPr/>
        </p:nvSpPr>
        <p:spPr>
          <a:xfrm rot="16200000">
            <a:off x="-1563133" y="5057094"/>
            <a:ext cx="3364040" cy="23777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7244B79-61B0-4DBC-816D-C65406D31146}"/>
              </a:ext>
            </a:extLst>
          </p:cNvPr>
          <p:cNvSpPr/>
          <p:nvPr/>
        </p:nvSpPr>
        <p:spPr>
          <a:xfrm rot="5400000">
            <a:off x="9195614" y="2799614"/>
            <a:ext cx="5796000" cy="19677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95BCD07-9C7B-4C01-9A86-7F3C6F9C8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547" y="4247193"/>
            <a:ext cx="8106906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051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450AF9F7-281C-4F9E-BABF-05CBB22A9EA9}"/>
              </a:ext>
            </a:extLst>
          </p:cNvPr>
          <p:cNvSpPr/>
          <p:nvPr/>
        </p:nvSpPr>
        <p:spPr>
          <a:xfrm rot="16200000">
            <a:off x="5123770" y="-3033607"/>
            <a:ext cx="2042802" cy="101734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A59A394-BE77-4359-93AF-CF1DEA74E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0"/>
            <a:ext cx="10515600" cy="1325563"/>
          </a:xfrm>
        </p:spPr>
        <p:txBody>
          <a:bodyPr/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DB8ED6A0-A551-4B65-AB25-62AE2EE9F83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02300" y="1236293"/>
            <a:ext cx="9587400" cy="3306216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Так как переменная не указывает ни на какой объект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то соответственно мы не можем обращаться к методам объекта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Чтобы избежать подобных ошибок, можно предварительно проверять строку на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9DBC35E-48E7-462C-9C9D-0CBCE2EA9228}"/>
              </a:ext>
            </a:extLst>
          </p:cNvPr>
          <p:cNvSpPr/>
          <p:nvPr/>
        </p:nvSpPr>
        <p:spPr>
          <a:xfrm rot="16200000">
            <a:off x="-1563133" y="5057094"/>
            <a:ext cx="3364040" cy="23777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7244B79-61B0-4DBC-816D-C65406D31146}"/>
              </a:ext>
            </a:extLst>
          </p:cNvPr>
          <p:cNvSpPr/>
          <p:nvPr/>
        </p:nvSpPr>
        <p:spPr>
          <a:xfrm rot="5400000">
            <a:off x="9195614" y="2799614"/>
            <a:ext cx="5796000" cy="19677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024D8A0-04CD-40E6-952D-771EE4E75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389" y="4280535"/>
            <a:ext cx="7497221" cy="52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260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A59A394-BE77-4359-93AF-CF1DEA74E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0"/>
            <a:ext cx="10515600" cy="1325563"/>
          </a:xfrm>
        </p:spPr>
        <p:txBody>
          <a:bodyPr/>
          <a:lstStyle/>
          <a:p>
            <a:pPr algn="ctr"/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методы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9DBC35E-48E7-462C-9C9D-0CBCE2EA9228}"/>
              </a:ext>
            </a:extLst>
          </p:cNvPr>
          <p:cNvSpPr/>
          <p:nvPr/>
        </p:nvSpPr>
        <p:spPr>
          <a:xfrm rot="16200000">
            <a:off x="-1563133" y="5057094"/>
            <a:ext cx="3364040" cy="23777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7244B79-61B0-4DBC-816D-C65406D31146}"/>
              </a:ext>
            </a:extLst>
          </p:cNvPr>
          <p:cNvSpPr/>
          <p:nvPr/>
        </p:nvSpPr>
        <p:spPr>
          <a:xfrm rot="5400000">
            <a:off x="9195614" y="2799614"/>
            <a:ext cx="5796000" cy="19677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C50D0E2-6DC3-45D6-A081-1DD7E2E1A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1447" y="1095983"/>
            <a:ext cx="6512945" cy="5455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492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Теплый синий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677</TotalTime>
  <Words>307</Words>
  <Application>Microsoft Office PowerPoint</Application>
  <PresentationFormat>Широкоэкранный</PresentationFormat>
  <Paragraphs>24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IBM Plex Sans</vt:lpstr>
      <vt:lpstr>Times New Roman</vt:lpstr>
      <vt:lpstr>Тема Office</vt:lpstr>
      <vt:lpstr> ЛЕКЦИЯ №4.  Символьные и строковые типы данных. Классы для работы со строками в Java. </vt:lpstr>
      <vt:lpstr>Типы данных</vt:lpstr>
      <vt:lpstr>Char</vt:lpstr>
      <vt:lpstr>String</vt:lpstr>
      <vt:lpstr>String</vt:lpstr>
      <vt:lpstr>String</vt:lpstr>
      <vt:lpstr>String</vt:lpstr>
      <vt:lpstr>String</vt:lpstr>
      <vt:lpstr>String</vt:lpstr>
      <vt:lpstr>Основные методы String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 Obstinate</dc:creator>
  <cp:lastModifiedBy>Vlad Chibuk</cp:lastModifiedBy>
  <cp:revision>107</cp:revision>
  <dcterms:created xsi:type="dcterms:W3CDTF">2021-12-06T03:54:55Z</dcterms:created>
  <dcterms:modified xsi:type="dcterms:W3CDTF">2024-09-28T07:32:50Z</dcterms:modified>
</cp:coreProperties>
</file>