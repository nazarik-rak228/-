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CA4368-1A1C-4AA0-B9FA-5AB1CFDBCD00}">
  <a:tblStyle styleId="{5CCA4368-1A1C-4AA0-B9FA-5AB1CFDBCD0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Calibri"/>
              <a:buNone/>
              <a:defRPr b="1">
                <a:solidFill>
                  <a:srgbClr val="60709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8625840" y="6644640"/>
            <a:ext cx="3600000" cy="213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0" y="-22383"/>
            <a:ext cx="3600000" cy="213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 rot="-5400000">
            <a:off x="8820811" y="3139757"/>
            <a:ext cx="6492875" cy="2133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 rot="-5400000">
            <a:off x="-3139758" y="3504883"/>
            <a:ext cx="6492875" cy="2133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и объект">
  <p:cSld name="2_Заголовок и объект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838200" y="365125"/>
            <a:ext cx="687053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Calibri"/>
              <a:buNone/>
              <a:defRPr b="1">
                <a:solidFill>
                  <a:srgbClr val="60709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38200" y="1825625"/>
            <a:ext cx="687053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/>
          <p:nvPr>
            <p:ph idx="2" type="pic"/>
          </p:nvPr>
        </p:nvSpPr>
        <p:spPr>
          <a:xfrm>
            <a:off x="8032750" y="0"/>
            <a:ext cx="415925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Заголовок и объект">
  <p:cSld name="4_Заголовок и объект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563880" y="428043"/>
            <a:ext cx="11155680" cy="59912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Calibri"/>
              <a:buNone/>
              <a:defRPr b="1">
                <a:solidFill>
                  <a:srgbClr val="60709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" name="Google Shape;29;p4"/>
          <p:cNvSpPr/>
          <p:nvPr>
            <p:ph idx="2" type="pic"/>
          </p:nvPr>
        </p:nvSpPr>
        <p:spPr>
          <a:xfrm>
            <a:off x="838200" y="2301875"/>
            <a:ext cx="4895129" cy="156845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6458672" y="4428023"/>
            <a:ext cx="4879887" cy="1355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3" type="body"/>
          </p:nvPr>
        </p:nvSpPr>
        <p:spPr>
          <a:xfrm>
            <a:off x="853441" y="4428022"/>
            <a:ext cx="4879888" cy="1355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/>
          <p:nvPr>
            <p:ph idx="4" type="pic"/>
          </p:nvPr>
        </p:nvSpPr>
        <p:spPr>
          <a:xfrm>
            <a:off x="6458672" y="2320617"/>
            <a:ext cx="4940847" cy="15684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ctrTitle"/>
          </p:nvPr>
        </p:nvSpPr>
        <p:spPr>
          <a:xfrm>
            <a:off x="1524000" y="1600200"/>
            <a:ext cx="91440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Calibri"/>
              <a:buNone/>
              <a:defRPr b="1">
                <a:solidFill>
                  <a:srgbClr val="60709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1" name="Google Shape;81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1" name="Google Shape;11;p1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194000" y="367393"/>
            <a:ext cx="757762" cy="7577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838200" y="972448"/>
            <a:ext cx="10515600" cy="3119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ct val="100000"/>
              <a:buFont typeface="Times New Roman"/>
              <a:buNone/>
            </a:pPr>
            <a:br>
              <a:rPr i="1" lang="ru-RU" sz="4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1" lang="ru-RU" sz="4000">
                <a:latin typeface="Times New Roman"/>
                <a:ea typeface="Times New Roman"/>
                <a:cs typeface="Times New Roman"/>
                <a:sym typeface="Times New Roman"/>
              </a:rPr>
              <a:t>ЛЕКЦИЯ №1.</a:t>
            </a:r>
            <a:br>
              <a:rPr i="1" lang="ru-RU" sz="40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i="1" lang="ru-RU" sz="4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1" lang="ru-RU" sz="4000">
                <a:latin typeface="Times New Roman"/>
                <a:ea typeface="Times New Roman"/>
                <a:cs typeface="Times New Roman"/>
                <a:sym typeface="Times New Roman"/>
              </a:rPr>
              <a:t>Машинная математика и системы счисления. Переменные и типы данных в C#. Базовые операторы, условные конструкции, операторы выбора (if, else, switch)</a:t>
            </a:r>
            <a:br>
              <a:rPr lang="ru-RU"/>
            </a:b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2660730" y="26166"/>
            <a:ext cx="687053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Calibri"/>
              <a:buNone/>
            </a:pPr>
            <a:r>
              <a:rPr b="1" i="1" lang="ru-RU"/>
              <a:t>Системы счисления</a:t>
            </a:r>
            <a:endParaRPr i="1"/>
          </a:p>
        </p:txBody>
      </p:sp>
      <p:sp>
        <p:nvSpPr>
          <p:cNvPr id="114" name="Google Shape;114;p18"/>
          <p:cNvSpPr/>
          <p:nvPr/>
        </p:nvSpPr>
        <p:spPr>
          <a:xfrm>
            <a:off x="1469984" y="2280213"/>
            <a:ext cx="1851950" cy="3113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3891022" y="2280213"/>
            <a:ext cx="1851950" cy="31135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6312060" y="2280213"/>
            <a:ext cx="1851950" cy="311359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8733098" y="2280213"/>
            <a:ext cx="1851950" cy="31135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1558595" y="2910839"/>
            <a:ext cx="1674728" cy="1036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Десятичная система счисления</a:t>
            </a:r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3979633" y="2910839"/>
            <a:ext cx="1674728" cy="1036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Двоичная система счисления</a:t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6400671" y="2910838"/>
            <a:ext cx="1674728" cy="1036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Восьмеричная система счисления</a:t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8821709" y="2910838"/>
            <a:ext cx="1674728" cy="1036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16-тиричная система счисления</a:t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1877799" y="4875643"/>
            <a:ext cx="1036320" cy="1036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rotWithShape="0" dir="16200000" dist="38100">
              <a:schemeClr val="lt1">
                <a:alpha val="4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4298837" y="4875643"/>
            <a:ext cx="1036320" cy="103632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dir="16200000" dist="38100">
              <a:schemeClr val="lt1">
                <a:alpha val="4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6719875" y="4875643"/>
            <a:ext cx="1036320" cy="103632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rotWithShape="0" dir="16200000" dist="38100">
              <a:schemeClr val="lt1">
                <a:alpha val="4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9140913" y="4875643"/>
            <a:ext cx="1036320" cy="103632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rotWithShape="0" dir="16200000" dist="38100">
              <a:schemeClr val="lt1">
                <a:alpha val="4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3917" y="5098647"/>
            <a:ext cx="590312" cy="59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/>
          <p:nvPr/>
        </p:nvSpPr>
        <p:spPr>
          <a:xfrm rot="-5400000">
            <a:off x="-2115012" y="3313252"/>
            <a:ext cx="4461521" cy="231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 rot="-5400000">
            <a:off x="9845491" y="3313250"/>
            <a:ext cx="4461521" cy="231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7511" y="5093686"/>
            <a:ext cx="590312" cy="59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1105" y="5088725"/>
            <a:ext cx="590312" cy="59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699" y="5083764"/>
            <a:ext cx="590312" cy="590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2660730" y="152061"/>
            <a:ext cx="687053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Calibri"/>
              <a:buNone/>
            </a:pPr>
            <a:r>
              <a:rPr b="1" i="1" lang="ru-RU"/>
              <a:t>Системы счисления</a:t>
            </a:r>
            <a:endParaRPr i="1"/>
          </a:p>
        </p:txBody>
      </p:sp>
      <p:sp>
        <p:nvSpPr>
          <p:cNvPr id="137" name="Google Shape;137;p19"/>
          <p:cNvSpPr txBox="1"/>
          <p:nvPr/>
        </p:nvSpPr>
        <p:spPr>
          <a:xfrm>
            <a:off x="611398" y="1515501"/>
            <a:ext cx="5736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Десятичная система счисления. </a:t>
            </a:r>
            <a:endParaRPr/>
          </a:p>
        </p:txBody>
      </p:sp>
      <p:cxnSp>
        <p:nvCxnSpPr>
          <p:cNvPr id="138" name="Google Shape;138;p19"/>
          <p:cNvCxnSpPr/>
          <p:nvPr/>
        </p:nvCxnSpPr>
        <p:spPr>
          <a:xfrm>
            <a:off x="9959509" y="6305956"/>
            <a:ext cx="1527858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9" name="Google Shape;139;p19"/>
          <p:cNvCxnSpPr/>
          <p:nvPr/>
        </p:nvCxnSpPr>
        <p:spPr>
          <a:xfrm>
            <a:off x="611398" y="509082"/>
            <a:ext cx="1527858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26493"/>
          <a:stretch/>
        </p:blipFill>
        <p:spPr>
          <a:xfrm>
            <a:off x="1212771" y="2121764"/>
            <a:ext cx="6093551" cy="221941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/>
        </p:nvSpPr>
        <p:spPr>
          <a:xfrm>
            <a:off x="5557421" y="3548439"/>
            <a:ext cx="5736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Двоичная система счисления. </a:t>
            </a:r>
            <a:endParaRPr/>
          </a:p>
        </p:txBody>
      </p:sp>
      <p:pic>
        <p:nvPicPr>
          <p:cNvPr id="142" name="Google Shape;142;p19"/>
          <p:cNvPicPr preferRelativeResize="0"/>
          <p:nvPr/>
        </p:nvPicPr>
        <p:blipFill rotWithShape="1">
          <a:blip r:embed="rId4">
            <a:alphaModFix/>
          </a:blip>
          <a:srcRect b="0" l="0" r="0" t="29332"/>
          <a:stretch/>
        </p:blipFill>
        <p:spPr>
          <a:xfrm>
            <a:off x="5557421" y="4057606"/>
            <a:ext cx="5841506" cy="1855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0"/>
          <p:cNvPicPr preferRelativeResize="0"/>
          <p:nvPr/>
        </p:nvPicPr>
        <p:blipFill rotWithShape="1">
          <a:blip r:embed="rId3">
            <a:alphaModFix/>
          </a:blip>
          <a:srcRect b="0" l="0" r="9749" t="26735"/>
          <a:stretch/>
        </p:blipFill>
        <p:spPr>
          <a:xfrm>
            <a:off x="1268599" y="1939289"/>
            <a:ext cx="6032709" cy="189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>
            <p:ph type="title"/>
          </p:nvPr>
        </p:nvSpPr>
        <p:spPr>
          <a:xfrm>
            <a:off x="2660730" y="152061"/>
            <a:ext cx="687053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Calibri"/>
              <a:buNone/>
            </a:pPr>
            <a:r>
              <a:rPr b="1" i="1" lang="ru-RU"/>
              <a:t>Системы счисления</a:t>
            </a:r>
            <a:endParaRPr i="1"/>
          </a:p>
        </p:txBody>
      </p:sp>
      <p:sp>
        <p:nvSpPr>
          <p:cNvPr id="149" name="Google Shape;149;p20"/>
          <p:cNvSpPr txBox="1"/>
          <p:nvPr/>
        </p:nvSpPr>
        <p:spPr>
          <a:xfrm>
            <a:off x="735685" y="1477624"/>
            <a:ext cx="5736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Восьмеричная система счисления. </a:t>
            </a:r>
            <a:endParaRPr/>
          </a:p>
        </p:txBody>
      </p:sp>
      <p:cxnSp>
        <p:nvCxnSpPr>
          <p:cNvPr id="150" name="Google Shape;150;p20"/>
          <p:cNvCxnSpPr/>
          <p:nvPr/>
        </p:nvCxnSpPr>
        <p:spPr>
          <a:xfrm>
            <a:off x="9959509" y="6305956"/>
            <a:ext cx="1527858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" name="Google Shape;151;p20"/>
          <p:cNvCxnSpPr/>
          <p:nvPr/>
        </p:nvCxnSpPr>
        <p:spPr>
          <a:xfrm>
            <a:off x="611398" y="509082"/>
            <a:ext cx="1527858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" name="Google Shape;152;p20"/>
          <p:cNvSpPr txBox="1"/>
          <p:nvPr/>
        </p:nvSpPr>
        <p:spPr>
          <a:xfrm>
            <a:off x="5187266" y="3493172"/>
            <a:ext cx="5736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Шестнадцатеричная система счисления. </a:t>
            </a:r>
            <a:endParaRPr/>
          </a:p>
        </p:txBody>
      </p:sp>
      <p:pic>
        <p:nvPicPr>
          <p:cNvPr id="153" name="Google Shape;153;p20"/>
          <p:cNvPicPr preferRelativeResize="0"/>
          <p:nvPr/>
        </p:nvPicPr>
        <p:blipFill rotWithShape="1">
          <a:blip r:embed="rId4">
            <a:alphaModFix/>
          </a:blip>
          <a:srcRect b="0" l="0" r="0" t="27802"/>
          <a:stretch/>
        </p:blipFill>
        <p:spPr>
          <a:xfrm>
            <a:off x="5321050" y="4107923"/>
            <a:ext cx="6649720" cy="1891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2660730" y="-91294"/>
            <a:ext cx="687053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Times New Roman"/>
              <a:buNone/>
            </a:pPr>
            <a:r>
              <a:rPr b="1" i="1" lang="ru-RU">
                <a:latin typeface="Times New Roman"/>
                <a:ea typeface="Times New Roman"/>
                <a:cs typeface="Times New Roman"/>
                <a:sym typeface="Times New Roman"/>
              </a:rPr>
              <a:t>Машинная математика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680956" y="1062841"/>
            <a:ext cx="1083008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Машинная математика - это арифметика конечных чисел, которая используется в цифровых вычислительных машинах.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1026848" y="1964519"/>
            <a:ext cx="10138299" cy="2785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любом языке программирования можно выполнять математические операции любой сложности.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изучения машинной математики нужно знать следующие понятия: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ru-RU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Переменная </a:t>
            </a:r>
            <a:r>
              <a:rPr b="0" i="0" lang="ru-RU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это память, в которую можно записывать различные значения.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ru-RU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Тип переменной</a:t>
            </a:r>
            <a:r>
              <a:rPr b="1" i="1" lang="ru-RU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ru-RU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тип значения, которое можно записать в переменную (в память).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ru-RU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Тип данных</a:t>
            </a:r>
            <a:r>
              <a:rPr b="0" i="0" lang="ru-RU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– это характеристика диапазона значений, которые могут принимать переменные, относящиеся к этому типу данных.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135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/>
          <p:nvPr/>
        </p:nvSpPr>
        <p:spPr>
          <a:xfrm rot="-5400000">
            <a:off x="-1928771" y="3893293"/>
            <a:ext cx="4054318" cy="1967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Флажок со сплошной заливкой" id="162" name="Google Shape;16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307" y="3290082"/>
            <a:ext cx="251777" cy="251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Флажок со сплошной заливкой" id="163" name="Google Shape;1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306" y="3675017"/>
            <a:ext cx="251777" cy="251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Флажок со сплошной заливкой" id="164" name="Google Shape;16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467" y="4059277"/>
            <a:ext cx="251777" cy="2517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21"/>
          <p:cNvGrpSpPr/>
          <p:nvPr/>
        </p:nvGrpSpPr>
        <p:grpSpPr>
          <a:xfrm>
            <a:off x="9672746" y="4469604"/>
            <a:ext cx="2322477" cy="2322064"/>
            <a:chOff x="782747" y="15749"/>
            <a:chExt cx="2322477" cy="2322064"/>
          </a:xfrm>
        </p:grpSpPr>
        <p:sp>
          <p:nvSpPr>
            <p:cNvPr id="166" name="Google Shape;166;p21"/>
            <p:cNvSpPr/>
            <p:nvPr/>
          </p:nvSpPr>
          <p:spPr>
            <a:xfrm>
              <a:off x="782747" y="15749"/>
              <a:ext cx="2322477" cy="2322064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1122679" y="1252992"/>
              <a:ext cx="1056639" cy="544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1"/>
            <p:cNvSpPr txBox="1"/>
            <p:nvPr/>
          </p:nvSpPr>
          <p:spPr>
            <a:xfrm>
              <a:off x="1122679" y="1252992"/>
              <a:ext cx="1056639" cy="544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900"/>
                <a:buFont typeface="Calibri"/>
                <a:buNone/>
              </a:pPr>
              <a:r>
                <a:t/>
              </a:r>
              <a:endParaRPr b="0" i="0" sz="3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/>
          <p:nvPr/>
        </p:nvSpPr>
        <p:spPr>
          <a:xfrm rot="-5400000">
            <a:off x="5181601" y="-2672082"/>
            <a:ext cx="2184399" cy="9763764"/>
          </a:xfrm>
          <a:prstGeom prst="rect">
            <a:avLst/>
          </a:prstGeom>
          <a:solidFill>
            <a:srgbClr val="DD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 txBox="1"/>
          <p:nvPr>
            <p:ph type="title"/>
          </p:nvPr>
        </p:nvSpPr>
        <p:spPr>
          <a:xfrm>
            <a:off x="96012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Times New Roman"/>
              <a:buNone/>
            </a:pPr>
            <a:r>
              <a:rPr b="1" i="1" lang="ru-RU">
                <a:latin typeface="Times New Roman"/>
                <a:ea typeface="Times New Roman"/>
                <a:cs typeface="Times New Roman"/>
                <a:sym typeface="Times New Roman"/>
              </a:rPr>
              <a:t>Переменные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2"/>
          <p:cNvSpPr txBox="1"/>
          <p:nvPr>
            <p:ph idx="3" type="body"/>
          </p:nvPr>
        </p:nvSpPr>
        <p:spPr>
          <a:xfrm>
            <a:off x="1747519" y="1489492"/>
            <a:ext cx="8940799" cy="1751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У любой переменной должно быть присвоено имя. Оно может как состоять из одной буквы, так и носить в себе различный аббревиатуры.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0" i="0" lang="ru-RU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Единственное ограничение – имя должно состоять из английских букв и не должно использовать зарезервированные слова.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2"/>
          <p:cNvSpPr/>
          <p:nvPr/>
        </p:nvSpPr>
        <p:spPr>
          <a:xfrm rot="-5400000">
            <a:off x="-1563133" y="5057094"/>
            <a:ext cx="3364040" cy="2377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545" y="3662098"/>
            <a:ext cx="1339059" cy="1706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36396" y="3662098"/>
            <a:ext cx="1172579" cy="1706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72676" y="3662098"/>
            <a:ext cx="3185557" cy="1706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6009" y="3662097"/>
            <a:ext cx="3560388" cy="1706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type="title"/>
          </p:nvPr>
        </p:nvSpPr>
        <p:spPr>
          <a:xfrm>
            <a:off x="5019040" y="202565"/>
            <a:ext cx="4414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Calibri"/>
              <a:buNone/>
            </a:pPr>
            <a:r>
              <a:rPr b="1" i="1" lang="ru-RU"/>
              <a:t>Типы переменных</a:t>
            </a:r>
            <a:endParaRPr i="1"/>
          </a:p>
        </p:txBody>
      </p:sp>
      <p:sp>
        <p:nvSpPr>
          <p:cNvPr id="187" name="Google Shape;187;p23"/>
          <p:cNvSpPr txBox="1"/>
          <p:nvPr>
            <p:ph idx="1" type="body"/>
          </p:nvPr>
        </p:nvSpPr>
        <p:spPr>
          <a:xfrm>
            <a:off x="740175" y="1732138"/>
            <a:ext cx="10711649" cy="4437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ru-RU" sz="6400">
                <a:latin typeface="Times New Roman"/>
                <a:ea typeface="Times New Roman"/>
                <a:cs typeface="Times New Roman"/>
                <a:sym typeface="Times New Roman"/>
              </a:rPr>
              <a:t>byte (целые числа) –</a:t>
            </a:r>
            <a:r>
              <a:rPr b="0" i="0" lang="ru-RU" sz="6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хранит целое число от 0 до 255 и занимает 1 байт. Представлен системным типом System.Byte</a:t>
            </a:r>
            <a:endParaRPr sz="6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ru-RU" sz="6400">
                <a:latin typeface="Times New Roman"/>
                <a:ea typeface="Times New Roman"/>
                <a:cs typeface="Times New Roman"/>
                <a:sym typeface="Times New Roman"/>
              </a:rPr>
              <a:t>sbyte: хранит целое число от -128 до 127 и занимает 1 байт. Представлен системным типом System.SByte</a:t>
            </a:r>
            <a:endParaRPr b="0" i="0" sz="6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ru-RU" sz="6400">
                <a:latin typeface="Times New Roman"/>
                <a:ea typeface="Times New Roman"/>
                <a:cs typeface="Times New Roman"/>
                <a:sym typeface="Times New Roman"/>
              </a:rPr>
              <a:t>short (целые числа) - хранит целое число от -32768 до 32767 и занимает 2 байта. Представлен системным типом System.Int16</a:t>
            </a:r>
            <a:endParaRPr b="0" i="0" sz="6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ru-RU" sz="6400">
                <a:latin typeface="Times New Roman"/>
                <a:ea typeface="Times New Roman"/>
                <a:cs typeface="Times New Roman"/>
                <a:sym typeface="Times New Roman"/>
              </a:rPr>
              <a:t>ushort: хранит целое число от 0 до 65535 и занимает 2 байта. Представлен системным типом System.UInt16</a:t>
            </a:r>
            <a:endParaRPr b="0" i="0" sz="6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ru-RU" sz="6400">
                <a:latin typeface="Times New Roman"/>
                <a:ea typeface="Times New Roman"/>
                <a:cs typeface="Times New Roman"/>
                <a:sym typeface="Times New Roman"/>
              </a:rPr>
              <a:t>int (целые числа) - хранит целое число от -2147483648 до 2147483647 и занимает 4 байта. Представлен системным типом System.Int32. Все целочисленные литералы по умолчанию представляют значения типа int</a:t>
            </a:r>
            <a:endParaRPr b="0" i="0" sz="6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ru-RU" sz="6400">
                <a:latin typeface="Times New Roman"/>
                <a:ea typeface="Times New Roman"/>
                <a:cs typeface="Times New Roman"/>
                <a:sym typeface="Times New Roman"/>
              </a:rPr>
              <a:t>uint: хранит целое число от 0 до 4294967295 и занимает 4 байта. Представлен системным типом System.UInt32</a:t>
            </a:r>
            <a:endParaRPr sz="6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ru-RU" sz="6400">
                <a:latin typeface="Times New Roman"/>
                <a:ea typeface="Times New Roman"/>
                <a:cs typeface="Times New Roman"/>
                <a:sym typeface="Times New Roman"/>
              </a:rPr>
              <a:t>long: хранит целое число от –9 223 372 036 854 775 808 до 9 223 372 036 854 775 807 и занимает 8 байт. Представлен системным типом System.Int64</a:t>
            </a:r>
            <a:endParaRPr b="0" i="0" sz="6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ru-RU" sz="6400">
                <a:latin typeface="Times New Roman"/>
                <a:ea typeface="Times New Roman"/>
                <a:cs typeface="Times New Roman"/>
                <a:sym typeface="Times New Roman"/>
              </a:rPr>
              <a:t>ulong: хранит целое число от 0 до 18 446 744 073 709 551 615 и занимает 8 байт. Представлен системным типом System.UInt64</a:t>
            </a:r>
            <a:endParaRPr b="0" i="0" sz="6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 i="0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icture background" id="188" name="Google Shape;1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3622089" cy="1606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5019040" y="202565"/>
            <a:ext cx="4414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Calibri"/>
              <a:buNone/>
            </a:pPr>
            <a:r>
              <a:rPr b="1" i="1" lang="ru-RU"/>
              <a:t>Типы переменных</a:t>
            </a:r>
            <a:endParaRPr i="1"/>
          </a:p>
        </p:txBody>
      </p:sp>
      <p:sp>
        <p:nvSpPr>
          <p:cNvPr id="194" name="Google Shape;194;p24"/>
          <p:cNvSpPr txBox="1"/>
          <p:nvPr>
            <p:ph idx="1" type="body"/>
          </p:nvPr>
        </p:nvSpPr>
        <p:spPr>
          <a:xfrm>
            <a:off x="776056" y="171438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float: хранит число с плавающей точкой от -3.4*1038 до 3.4*1038 и занимает 4 байта. Представлен системным типом System.Single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double: хранит число с плавающей точкой от ±5.0*10-324 до ±1.7*10308 и занимает 8 байта. Представлен системным типом System.Double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decimal: хранит десятичное дробное число. Если употребляется без десятичной запятой, имеет значение от ±1.0*10-28 до ±7.9228*1028, может хранить 28 знаков после запятой и занимает 16 байт. Представлен системным типом System.Decimal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char: хранит одиночный символ в кодировке Unicode и занимает 2 байта. Представлен системным типом System.Char.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string: хранит набор символов Unicode. Представлен системным типом System.String. Этому типу соответствуют строковые литералы.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object: может хранить значение любого типа данных и занимает 4 байта на 32-разрядной платформе и 8 байт на 64-разрядной платформе. Представлен системным типом System.Object, который является базовым для всех других типов и классов .NET</a:t>
            </a:r>
            <a:endParaRPr/>
          </a:p>
        </p:txBody>
      </p:sp>
      <p:pic>
        <p:nvPicPr>
          <p:cNvPr descr="Picture background" id="195" name="Google Shape;1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817398" cy="1528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/>
          <p:nvPr/>
        </p:nvSpPr>
        <p:spPr>
          <a:xfrm rot="-5400000">
            <a:off x="4155621" y="-1707199"/>
            <a:ext cx="3921760" cy="9987284"/>
          </a:xfrm>
          <a:prstGeom prst="rect">
            <a:avLst/>
          </a:prstGeom>
          <a:solidFill>
            <a:srgbClr val="DD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5"/>
          <p:cNvSpPr txBox="1"/>
          <p:nvPr>
            <p:ph type="title"/>
          </p:nvPr>
        </p:nvSpPr>
        <p:spPr>
          <a:xfrm>
            <a:off x="673734" y="-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Times New Roman"/>
              <a:buNone/>
            </a:pPr>
            <a:r>
              <a:rPr b="1" i="1" lang="ru-RU">
                <a:latin typeface="Times New Roman"/>
                <a:ea typeface="Times New Roman"/>
                <a:cs typeface="Times New Roman"/>
                <a:sym typeface="Times New Roman"/>
              </a:rPr>
              <a:t>Разница между float, double и decimal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5"/>
          <p:cNvSpPr/>
          <p:nvPr/>
        </p:nvSpPr>
        <p:spPr>
          <a:xfrm rot="-5400000">
            <a:off x="-1563133" y="5057094"/>
            <a:ext cx="3364040" cy="2377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 txBox="1"/>
          <p:nvPr>
            <p:ph idx="3" type="body"/>
          </p:nvPr>
        </p:nvSpPr>
        <p:spPr>
          <a:xfrm>
            <a:off x="2114070" y="1610676"/>
            <a:ext cx="8494746" cy="3440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 sz="2900">
                <a:latin typeface="Times New Roman"/>
                <a:ea typeface="Times New Roman"/>
                <a:cs typeface="Times New Roman"/>
                <a:sym typeface="Times New Roman"/>
              </a:rPr>
              <a:t>FLOAT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i="0" lang="ru-RU">
                <a:latin typeface="Times New Roman"/>
                <a:ea typeface="Times New Roman"/>
                <a:cs typeface="Times New Roman"/>
                <a:sym typeface="Times New Roman"/>
              </a:rPr>
              <a:t>Описание</a:t>
            </a:r>
            <a:r>
              <a:rPr b="0" i="0" lang="ru-RU">
                <a:latin typeface="Times New Roman"/>
                <a:ea typeface="Times New Roman"/>
                <a:cs typeface="Times New Roman"/>
                <a:sym typeface="Times New Roman"/>
              </a:rPr>
              <a:t>: представляет числа с плавающей запятой одинарной точности. </a:t>
            </a:r>
            <a:endParaRPr b="0" i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i="0" lang="ru-RU">
                <a:latin typeface="Times New Roman"/>
                <a:ea typeface="Times New Roman"/>
                <a:cs typeface="Times New Roman"/>
                <a:sym typeface="Times New Roman"/>
              </a:rPr>
              <a:t>Характеристики</a:t>
            </a:r>
            <a:r>
              <a:rPr b="0" i="0" lang="ru-RU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ru-RU">
                <a:latin typeface="Times New Roman"/>
                <a:ea typeface="Times New Roman"/>
                <a:cs typeface="Times New Roman"/>
                <a:sym typeface="Times New Roman"/>
              </a:rPr>
              <a:t>Занимает в памяти </a:t>
            </a:r>
            <a:r>
              <a:rPr b="1" i="0" lang="ru-RU">
                <a:latin typeface="Times New Roman"/>
                <a:ea typeface="Times New Roman"/>
                <a:cs typeface="Times New Roman"/>
                <a:sym typeface="Times New Roman"/>
              </a:rPr>
              <a:t>32 бита</a:t>
            </a:r>
            <a:r>
              <a:rPr b="0" i="0" lang="ru-RU">
                <a:latin typeface="Times New Roman"/>
                <a:ea typeface="Times New Roman"/>
                <a:cs typeface="Times New Roman"/>
                <a:sym typeface="Times New Roman"/>
              </a:rPr>
              <a:t> (4 байта).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ru-RU">
                <a:latin typeface="Times New Roman"/>
                <a:ea typeface="Times New Roman"/>
                <a:cs typeface="Times New Roman"/>
                <a:sym typeface="Times New Roman"/>
              </a:rPr>
              <a:t>Обеспечивает относительную точность </a:t>
            </a:r>
            <a:r>
              <a:rPr b="1" i="0" lang="ru-RU">
                <a:latin typeface="Times New Roman"/>
                <a:ea typeface="Times New Roman"/>
                <a:cs typeface="Times New Roman"/>
                <a:sym typeface="Times New Roman"/>
              </a:rPr>
              <a:t>7–8 десятичных цифр</a:t>
            </a:r>
            <a:r>
              <a:rPr b="0" i="0" lang="ru-RU">
                <a:latin typeface="Times New Roman"/>
                <a:ea typeface="Times New Roman"/>
                <a:cs typeface="Times New Roman"/>
                <a:sym typeface="Times New Roman"/>
              </a:rPr>
              <a:t> в диапазоне от 10−38 до примерно 1038. Подходит для широкого спектра приложений, но может иметь ограниченную точность, особенно для очень больших или очень маленьких чисел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/>
          <p:nvPr/>
        </p:nvSpPr>
        <p:spPr>
          <a:xfrm rot="-5400000">
            <a:off x="4155621" y="-1707199"/>
            <a:ext cx="3921760" cy="9987284"/>
          </a:xfrm>
          <a:prstGeom prst="rect">
            <a:avLst/>
          </a:prstGeom>
          <a:solidFill>
            <a:srgbClr val="DD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6"/>
          <p:cNvSpPr txBox="1"/>
          <p:nvPr>
            <p:ph type="title"/>
          </p:nvPr>
        </p:nvSpPr>
        <p:spPr>
          <a:xfrm>
            <a:off x="673734" y="-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Times New Roman"/>
              <a:buNone/>
            </a:pPr>
            <a:r>
              <a:rPr b="1" i="1" lang="ru-RU">
                <a:latin typeface="Times New Roman"/>
                <a:ea typeface="Times New Roman"/>
                <a:cs typeface="Times New Roman"/>
                <a:sym typeface="Times New Roman"/>
              </a:rPr>
              <a:t>Разница между float, double и decimal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6"/>
          <p:cNvSpPr/>
          <p:nvPr/>
        </p:nvSpPr>
        <p:spPr>
          <a:xfrm rot="-5400000">
            <a:off x="-1563133" y="5057094"/>
            <a:ext cx="3364040" cy="2377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6"/>
          <p:cNvSpPr txBox="1"/>
          <p:nvPr>
            <p:ph idx="3" type="body"/>
          </p:nvPr>
        </p:nvSpPr>
        <p:spPr>
          <a:xfrm>
            <a:off x="2114070" y="1610676"/>
            <a:ext cx="8494746" cy="3440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2000">
                <a:latin typeface="Times New Roman"/>
                <a:ea typeface="Times New Roman"/>
                <a:cs typeface="Times New Roman"/>
                <a:sym typeface="Times New Roman"/>
              </a:rPr>
              <a:t>DOUBLE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2000">
                <a:latin typeface="Times New Roman"/>
                <a:ea typeface="Times New Roman"/>
                <a:cs typeface="Times New Roman"/>
                <a:sym typeface="Times New Roman"/>
              </a:rPr>
              <a:t>Описание</a:t>
            </a:r>
            <a:r>
              <a:rPr b="0" lang="ru-RU" sz="2000">
                <a:latin typeface="Times New Roman"/>
                <a:ea typeface="Times New Roman"/>
                <a:cs typeface="Times New Roman"/>
                <a:sym typeface="Times New Roman"/>
              </a:rPr>
              <a:t>: предоставляет числа с плавающей запятой двойной точности. 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2000">
                <a:latin typeface="Times New Roman"/>
                <a:ea typeface="Times New Roman"/>
                <a:cs typeface="Times New Roman"/>
                <a:sym typeface="Times New Roman"/>
              </a:rPr>
              <a:t>Характеристики</a:t>
            </a:r>
            <a:r>
              <a:rPr b="0" lang="ru-RU" sz="20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lang="ru-RU" sz="2000">
                <a:latin typeface="Times New Roman"/>
                <a:ea typeface="Times New Roman"/>
                <a:cs typeface="Times New Roman"/>
                <a:sym typeface="Times New Roman"/>
              </a:rPr>
              <a:t>Занимает в памяти </a:t>
            </a:r>
            <a:r>
              <a:rPr b="1" lang="ru-RU" sz="2000">
                <a:latin typeface="Times New Roman"/>
                <a:ea typeface="Times New Roman"/>
                <a:cs typeface="Times New Roman"/>
                <a:sym typeface="Times New Roman"/>
              </a:rPr>
              <a:t>64 бита</a:t>
            </a:r>
            <a:r>
              <a:rPr b="0" lang="ru-RU" sz="2000">
                <a:latin typeface="Times New Roman"/>
                <a:ea typeface="Times New Roman"/>
                <a:cs typeface="Times New Roman"/>
                <a:sym typeface="Times New Roman"/>
              </a:rPr>
              <a:t> (8 байт). Обеспечивает точность </a:t>
            </a:r>
            <a:r>
              <a:rPr b="1" lang="ru-RU" sz="2000">
                <a:latin typeface="Times New Roman"/>
                <a:ea typeface="Times New Roman"/>
                <a:cs typeface="Times New Roman"/>
                <a:sym typeface="Times New Roman"/>
              </a:rPr>
              <a:t>15–17 десятичных цифр</a:t>
            </a:r>
            <a:r>
              <a:rPr b="0" lang="ru-RU" sz="2000">
                <a:latin typeface="Times New Roman"/>
                <a:ea typeface="Times New Roman"/>
                <a:cs typeface="Times New Roman"/>
                <a:sym typeface="Times New Roman"/>
              </a:rPr>
              <a:t> в диапазоне примерно от 10−308 до 10308.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lang="ru-RU" sz="2000">
                <a:latin typeface="Times New Roman"/>
                <a:ea typeface="Times New Roman"/>
                <a:cs typeface="Times New Roman"/>
                <a:sym typeface="Times New Roman"/>
              </a:rPr>
              <a:t>Подходит для сложных математических операций, требующих абсолютной точности.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i="0" lang="ru-RU" sz="2000">
                <a:latin typeface="Times New Roman"/>
                <a:ea typeface="Times New Roman"/>
                <a:cs typeface="Times New Roman"/>
                <a:sym typeface="Times New Roman"/>
              </a:rPr>
              <a:t>Важно</a:t>
            </a:r>
            <a:r>
              <a:rPr b="0" i="0" lang="ru-RU" sz="2000">
                <a:latin typeface="Times New Roman"/>
                <a:ea typeface="Times New Roman"/>
                <a:cs typeface="Times New Roman"/>
                <a:sym typeface="Times New Roman"/>
              </a:rPr>
              <a:t>: чем больше размер типа, тем больше точность и диапазон представимых значений. 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/>
          <p:nvPr/>
        </p:nvSpPr>
        <p:spPr>
          <a:xfrm rot="-5400000">
            <a:off x="4155621" y="-1707199"/>
            <a:ext cx="3921760" cy="9987284"/>
          </a:xfrm>
          <a:prstGeom prst="rect">
            <a:avLst/>
          </a:prstGeom>
          <a:solidFill>
            <a:srgbClr val="DD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7"/>
          <p:cNvSpPr txBox="1"/>
          <p:nvPr>
            <p:ph type="title"/>
          </p:nvPr>
        </p:nvSpPr>
        <p:spPr>
          <a:xfrm>
            <a:off x="673734" y="-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Times New Roman"/>
              <a:buNone/>
            </a:pPr>
            <a:r>
              <a:rPr b="1" i="1" lang="ru-RU">
                <a:latin typeface="Times New Roman"/>
                <a:ea typeface="Times New Roman"/>
                <a:cs typeface="Times New Roman"/>
                <a:sym typeface="Times New Roman"/>
              </a:rPr>
              <a:t>Разница между float, double и decimal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7"/>
          <p:cNvSpPr/>
          <p:nvPr/>
        </p:nvSpPr>
        <p:spPr>
          <a:xfrm rot="-5400000">
            <a:off x="-1563133" y="5057094"/>
            <a:ext cx="3364040" cy="2377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7"/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7"/>
          <p:cNvSpPr txBox="1"/>
          <p:nvPr>
            <p:ph idx="3" type="body"/>
          </p:nvPr>
        </p:nvSpPr>
        <p:spPr>
          <a:xfrm>
            <a:off x="2114070" y="1610676"/>
            <a:ext cx="8494746" cy="3440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2000">
                <a:latin typeface="Times New Roman"/>
                <a:ea typeface="Times New Roman"/>
                <a:cs typeface="Times New Roman"/>
                <a:sym typeface="Times New Roman"/>
              </a:rPr>
              <a:t>DECIMAL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i="0" lang="ru-RU" sz="2000">
                <a:latin typeface="Times New Roman"/>
                <a:ea typeface="Times New Roman"/>
                <a:cs typeface="Times New Roman"/>
                <a:sym typeface="Times New Roman"/>
              </a:rPr>
              <a:t>Описание</a:t>
            </a:r>
            <a:r>
              <a:rPr b="0" i="0" lang="ru-RU" sz="2000">
                <a:latin typeface="Times New Roman"/>
                <a:ea typeface="Times New Roman"/>
                <a:cs typeface="Times New Roman"/>
                <a:sym typeface="Times New Roman"/>
              </a:rPr>
              <a:t>: предназначен для представления чисел с плавающей точкой </a:t>
            </a:r>
            <a:r>
              <a:rPr b="1" i="0" lang="ru-RU" sz="2000">
                <a:latin typeface="Times New Roman"/>
                <a:ea typeface="Times New Roman"/>
                <a:cs typeface="Times New Roman"/>
                <a:sym typeface="Times New Roman"/>
              </a:rPr>
              <a:t>высокой точности</a:t>
            </a:r>
            <a:r>
              <a:rPr b="0" i="0" lang="ru-RU" sz="2000">
                <a:latin typeface="Times New Roman"/>
                <a:ea typeface="Times New Roman"/>
                <a:cs typeface="Times New Roman"/>
                <a:sym typeface="Times New Roman"/>
              </a:rPr>
              <a:t>. </a:t>
            </a:r>
            <a:endParaRPr b="0" i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i="0" lang="ru-RU" sz="2000">
                <a:latin typeface="Times New Roman"/>
                <a:ea typeface="Times New Roman"/>
                <a:cs typeface="Times New Roman"/>
                <a:sym typeface="Times New Roman"/>
              </a:rPr>
              <a:t>Характеристики</a:t>
            </a:r>
            <a:r>
              <a:rPr b="0" i="0" lang="ru-RU" sz="20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ru-RU" sz="2000">
                <a:latin typeface="Times New Roman"/>
                <a:ea typeface="Times New Roman"/>
                <a:cs typeface="Times New Roman"/>
                <a:sym typeface="Times New Roman"/>
              </a:rPr>
              <a:t>Занимает </a:t>
            </a:r>
            <a:r>
              <a:rPr b="1" i="0" lang="ru-RU" sz="2000">
                <a:latin typeface="Times New Roman"/>
                <a:ea typeface="Times New Roman"/>
                <a:cs typeface="Times New Roman"/>
                <a:sym typeface="Times New Roman"/>
              </a:rPr>
              <a:t>128 бит</a:t>
            </a:r>
            <a:r>
              <a:rPr b="0" i="0" lang="ru-RU" sz="2000">
                <a:latin typeface="Times New Roman"/>
                <a:ea typeface="Times New Roman"/>
                <a:cs typeface="Times New Roman"/>
                <a:sym typeface="Times New Roman"/>
              </a:rPr>
              <a:t> для представления числовых значений в пределах от 1Е-28 до 7,9Е+28. Позволяет представить числа с точностью </a:t>
            </a:r>
            <a:r>
              <a:rPr b="1" i="0" lang="ru-RU" sz="2000">
                <a:latin typeface="Times New Roman"/>
                <a:ea typeface="Times New Roman"/>
                <a:cs typeface="Times New Roman"/>
                <a:sym typeface="Times New Roman"/>
              </a:rPr>
              <a:t>до 28 (а иногда и 29) десятичных разрядов</a:t>
            </a:r>
            <a:r>
              <a:rPr b="0" i="0" lang="ru-RU" sz="20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ru-RU" sz="2000">
                <a:latin typeface="Times New Roman"/>
                <a:ea typeface="Times New Roman"/>
                <a:cs typeface="Times New Roman"/>
                <a:sym typeface="Times New Roman"/>
              </a:rPr>
              <a:t>Подходит для задач, требующих точного десятичного представления, например, для финансовых расчётов.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type="title"/>
          </p:nvPr>
        </p:nvSpPr>
        <p:spPr>
          <a:xfrm>
            <a:off x="2660730" y="26166"/>
            <a:ext cx="687053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Calibri"/>
              <a:buNone/>
            </a:pPr>
            <a:r>
              <a:rPr i="1" lang="ru-RU"/>
              <a:t>Операторы действий</a:t>
            </a:r>
            <a:endParaRPr/>
          </a:p>
        </p:txBody>
      </p:sp>
      <p:sp>
        <p:nvSpPr>
          <p:cNvPr id="228" name="Google Shape;228;p28"/>
          <p:cNvSpPr/>
          <p:nvPr/>
        </p:nvSpPr>
        <p:spPr>
          <a:xfrm>
            <a:off x="1538468" y="2230761"/>
            <a:ext cx="1851950" cy="3113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3959506" y="2230761"/>
            <a:ext cx="1851950" cy="31135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8"/>
          <p:cNvSpPr/>
          <p:nvPr/>
        </p:nvSpPr>
        <p:spPr>
          <a:xfrm>
            <a:off x="6380544" y="2230761"/>
            <a:ext cx="1851950" cy="311359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8"/>
          <p:cNvSpPr/>
          <p:nvPr/>
        </p:nvSpPr>
        <p:spPr>
          <a:xfrm>
            <a:off x="8801582" y="2230761"/>
            <a:ext cx="1851950" cy="31135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1627079" y="2861387"/>
            <a:ext cx="1674728" cy="155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Операторы присваивания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«=» записывает значения в данную переменную</a:t>
            </a:r>
            <a:endParaRPr/>
          </a:p>
        </p:txBody>
      </p:sp>
      <p:sp>
        <p:nvSpPr>
          <p:cNvPr id="233" name="Google Shape;233;p28"/>
          <p:cNvSpPr txBox="1"/>
          <p:nvPr/>
        </p:nvSpPr>
        <p:spPr>
          <a:xfrm>
            <a:off x="3939963" y="2861386"/>
            <a:ext cx="1871493" cy="1036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Арифметические операторы</a:t>
            </a:r>
            <a:endParaRPr/>
          </a:p>
        </p:txBody>
      </p:sp>
      <p:sp>
        <p:nvSpPr>
          <p:cNvPr id="234" name="Google Shape;234;p28"/>
          <p:cNvSpPr txBox="1"/>
          <p:nvPr/>
        </p:nvSpPr>
        <p:spPr>
          <a:xfrm>
            <a:off x="6469155" y="2861386"/>
            <a:ext cx="1674728" cy="1036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Операторы сравнения</a:t>
            </a:r>
            <a:endParaRPr/>
          </a:p>
        </p:txBody>
      </p:sp>
      <p:sp>
        <p:nvSpPr>
          <p:cNvPr id="235" name="Google Shape;235;p28"/>
          <p:cNvSpPr txBox="1"/>
          <p:nvPr/>
        </p:nvSpPr>
        <p:spPr>
          <a:xfrm>
            <a:off x="8890193" y="2861386"/>
            <a:ext cx="1674728" cy="1036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Логические операторы</a:t>
            </a:r>
            <a:endParaRPr/>
          </a:p>
        </p:txBody>
      </p:sp>
      <p:sp>
        <p:nvSpPr>
          <p:cNvPr id="236" name="Google Shape;236;p28"/>
          <p:cNvSpPr/>
          <p:nvPr/>
        </p:nvSpPr>
        <p:spPr>
          <a:xfrm>
            <a:off x="1946283" y="4826191"/>
            <a:ext cx="1036320" cy="1036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rotWithShape="0" dir="16200000" dist="38100">
              <a:schemeClr val="lt1">
                <a:alpha val="4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8"/>
          <p:cNvSpPr/>
          <p:nvPr/>
        </p:nvSpPr>
        <p:spPr>
          <a:xfrm>
            <a:off x="4367321" y="4826191"/>
            <a:ext cx="1036320" cy="103632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dir="16200000" dist="38100">
              <a:schemeClr val="lt1">
                <a:alpha val="4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8"/>
          <p:cNvSpPr/>
          <p:nvPr/>
        </p:nvSpPr>
        <p:spPr>
          <a:xfrm>
            <a:off x="6788359" y="4826191"/>
            <a:ext cx="1036320" cy="103632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rotWithShape="0" dir="16200000" dist="38100">
              <a:schemeClr val="lt1">
                <a:alpha val="4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8"/>
          <p:cNvSpPr/>
          <p:nvPr/>
        </p:nvSpPr>
        <p:spPr>
          <a:xfrm>
            <a:off x="9209397" y="4826191"/>
            <a:ext cx="1036320" cy="103632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rotWithShape="0" dir="16200000" dist="38100">
              <a:schemeClr val="lt1">
                <a:alpha val="4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32401" y="5049195"/>
            <a:ext cx="590312" cy="59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8"/>
          <p:cNvSpPr/>
          <p:nvPr/>
        </p:nvSpPr>
        <p:spPr>
          <a:xfrm rot="-5400000">
            <a:off x="-2115012" y="3313252"/>
            <a:ext cx="4461521" cy="231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8"/>
          <p:cNvSpPr/>
          <p:nvPr/>
        </p:nvSpPr>
        <p:spPr>
          <a:xfrm rot="-5400000">
            <a:off x="9845492" y="2115013"/>
            <a:ext cx="4461521" cy="231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5995" y="5044234"/>
            <a:ext cx="590312" cy="59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9589" y="5039273"/>
            <a:ext cx="590312" cy="59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3183" y="5034312"/>
            <a:ext cx="590312" cy="590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Times New Roman"/>
              <a:buNone/>
            </a:pPr>
            <a:r>
              <a:rPr i="1" lang="ru-RU">
                <a:latin typeface="Times New Roman"/>
                <a:ea typeface="Times New Roman"/>
                <a:cs typeface="Times New Roman"/>
                <a:sym typeface="Times New Roman"/>
              </a:rPr>
              <a:t>Арифметические операторы</a:t>
            </a:r>
            <a:endParaRPr/>
          </a:p>
        </p:txBody>
      </p:sp>
      <p:graphicFrame>
        <p:nvGraphicFramePr>
          <p:cNvPr id="251" name="Google Shape;251;p29"/>
          <p:cNvGraphicFramePr/>
          <p:nvPr/>
        </p:nvGraphicFramePr>
        <p:xfrm>
          <a:off x="2628900" y="1511454"/>
          <a:ext cx="3000000" cy="3000000"/>
        </p:xfrm>
        <a:graphic>
          <a:graphicData uri="http://schemas.openxmlformats.org/drawingml/2006/table">
            <a:tbl>
              <a:tblPr bandRow="1" firstRow="1">
                <a:gradFill>
                  <a:gsLst>
                    <a:gs pos="0">
                      <a:srgbClr val="A6B0D3"/>
                    </a:gs>
                    <a:gs pos="50000">
                      <a:srgbClr val="98A3CC"/>
                    </a:gs>
                    <a:gs pos="100000">
                      <a:srgbClr val="8695C7"/>
                    </a:gs>
                  </a:gsLst>
                  <a:lin ang="5400000" scaled="0"/>
                </a:gradFill>
                <a:tableStyleId>{5CCA4368-1A1C-4AA0-B9FA-5AB1CFDBCD00}</a:tableStyleId>
              </a:tblPr>
              <a:tblGrid>
                <a:gridCol w="3474200"/>
                <a:gridCol w="3460000"/>
              </a:tblGrid>
              <a:tr h="62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cap="none" strike="noStrike">
                          <a:solidFill>
                            <a:schemeClr val="lt1"/>
                          </a:solidFill>
                        </a:rPr>
                        <a:t>Оператор</a:t>
                      </a:r>
                      <a:endParaRPr/>
                    </a:p>
                  </a:txBody>
                  <a:tcPr marT="51450" marB="51450" marR="102925" marL="102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>
                          <a:solidFill>
                            <a:schemeClr val="lt1"/>
                          </a:solidFill>
                        </a:rPr>
                        <a:t>Описание</a:t>
                      </a:r>
                      <a:endParaRPr/>
                    </a:p>
                  </a:txBody>
                  <a:tcPr marT="51450" marB="51450" marR="102925" marL="102925"/>
                </a:tc>
              </a:tr>
              <a:tr h="62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+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51450" marB="51450" marR="102925" marL="102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Сложение</a:t>
                      </a:r>
                      <a:endParaRPr/>
                    </a:p>
                  </a:txBody>
                  <a:tcPr marT="51450" marB="51450" marR="102925" marL="102925"/>
                </a:tc>
              </a:tr>
              <a:tr h="62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-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51450" marB="51450" marR="102925" marL="102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Вычитание</a:t>
                      </a:r>
                      <a:endParaRPr/>
                    </a:p>
                  </a:txBody>
                  <a:tcPr marT="51450" marB="51450" marR="102925" marL="102925"/>
                </a:tc>
              </a:tr>
              <a:tr h="62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*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51450" marB="51450" marR="102925" marL="102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Умножение</a:t>
                      </a:r>
                      <a:endParaRPr/>
                    </a:p>
                  </a:txBody>
                  <a:tcPr marT="51450" marB="51450" marR="102925" marL="102925"/>
                </a:tc>
              </a:tr>
              <a:tr h="62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/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51450" marB="51450" marR="102925" marL="102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Деление</a:t>
                      </a:r>
                      <a:endParaRPr/>
                    </a:p>
                  </a:txBody>
                  <a:tcPr marT="51450" marB="51450" marR="102925" marL="102925"/>
                </a:tc>
              </a:tr>
              <a:tr h="62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%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51450" marB="51450" marR="102925" marL="102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Деление с остатком</a:t>
                      </a:r>
                      <a:endParaRPr/>
                    </a:p>
                  </a:txBody>
                  <a:tcPr marT="51450" marB="51450" marR="102925" marL="102925"/>
                </a:tc>
              </a:tr>
              <a:tr h="62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++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51450" marB="51450" marR="102925" marL="102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Инкремент</a:t>
                      </a:r>
                      <a:endParaRPr/>
                    </a:p>
                  </a:txBody>
                  <a:tcPr marT="51450" marB="51450" marR="102925" marL="102925"/>
                </a:tc>
              </a:tr>
              <a:tr h="62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--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51450" marB="51450" marR="102925" marL="102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Декремент</a:t>
                      </a:r>
                      <a:endParaRPr/>
                    </a:p>
                  </a:txBody>
                  <a:tcPr marT="51450" marB="51450" marR="102925" marL="102925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/>
          <p:nvPr>
            <p:ph type="title"/>
          </p:nvPr>
        </p:nvSpPr>
        <p:spPr>
          <a:xfrm>
            <a:off x="3101340" y="0"/>
            <a:ext cx="59893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Times New Roman"/>
              <a:buNone/>
            </a:pPr>
            <a:r>
              <a:rPr b="1" i="1" lang="ru-RU">
                <a:latin typeface="Times New Roman"/>
                <a:ea typeface="Times New Roman"/>
                <a:cs typeface="Times New Roman"/>
                <a:sym typeface="Times New Roman"/>
              </a:rPr>
              <a:t>Операторы сравнения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57" name="Google Shape;257;p30"/>
          <p:cNvGraphicFramePr/>
          <p:nvPr/>
        </p:nvGraphicFramePr>
        <p:xfrm>
          <a:off x="2628900" y="14798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{5CCA4368-1A1C-4AA0-B9FA-5AB1CFDBCD00}</a:tableStyleId>
              </a:tblPr>
              <a:tblGrid>
                <a:gridCol w="3474200"/>
                <a:gridCol w="3460000"/>
              </a:tblGrid>
              <a:tr h="62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lt1"/>
                          </a:solidFill>
                        </a:rPr>
                        <a:t>Оператор</a:t>
                      </a:r>
                      <a:endParaRPr/>
                    </a:p>
                  </a:txBody>
                  <a:tcPr marT="51450" marB="51450" marR="102925" marL="102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>
                          <a:solidFill>
                            <a:schemeClr val="lt1"/>
                          </a:solidFill>
                        </a:rPr>
                        <a:t>Описание</a:t>
                      </a:r>
                      <a:endParaRPr/>
                    </a:p>
                  </a:txBody>
                  <a:tcPr marT="51450" marB="51450" marR="102925" marL="102925"/>
                </a:tc>
              </a:tr>
              <a:tr h="62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==</a:t>
                      </a:r>
                      <a:endParaRPr/>
                    </a:p>
                  </a:txBody>
                  <a:tcPr marT="51450" marB="51450" marR="102925" marL="102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Равно</a:t>
                      </a:r>
                      <a:endParaRPr/>
                    </a:p>
                  </a:txBody>
                  <a:tcPr marT="51450" marB="51450" marR="102925" marL="102925"/>
                </a:tc>
              </a:tr>
              <a:tr h="62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!=</a:t>
                      </a:r>
                      <a:endParaRPr/>
                    </a:p>
                  </a:txBody>
                  <a:tcPr marT="51450" marB="51450" marR="102925" marL="102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chemeClr val="dk1"/>
                          </a:solidFill>
                        </a:rPr>
                        <a:t>Не равно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51450" marB="51450" marR="102925" marL="102925"/>
                </a:tc>
              </a:tr>
              <a:tr h="62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&lt;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51450" marB="51450" marR="102925" marL="102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chemeClr val="dk1"/>
                          </a:solidFill>
                        </a:rPr>
                        <a:t>Меньше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51450" marB="51450" marR="102925" marL="102925"/>
                </a:tc>
              </a:tr>
              <a:tr h="62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&gt;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51450" marB="51450" marR="102925" marL="102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chemeClr val="dk1"/>
                          </a:solidFill>
                        </a:rPr>
                        <a:t>Больше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51450" marB="51450" marR="102925" marL="102925"/>
                </a:tc>
              </a:tr>
              <a:tr h="62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&lt;=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51450" marB="51450" marR="102925" marL="102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chemeClr val="dk1"/>
                          </a:solidFill>
                        </a:rPr>
                        <a:t>Меньше или равно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51450" marB="51450" marR="102925" marL="102925"/>
                </a:tc>
              </a:tr>
              <a:tr h="62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solidFill>
                            <a:schemeClr val="dk1"/>
                          </a:solidFill>
                        </a:rPr>
                        <a:t>&gt;=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51450" marB="51450" marR="102925" marL="102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chemeClr val="dk1"/>
                          </a:solidFill>
                        </a:rPr>
                        <a:t>Больше или равно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51450" marB="51450" marR="102925" marL="102925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/>
          <p:nvPr/>
        </p:nvSpPr>
        <p:spPr>
          <a:xfrm rot="-5400000">
            <a:off x="4277061" y="-2006669"/>
            <a:ext cx="3754437" cy="10276661"/>
          </a:xfrm>
          <a:prstGeom prst="rect">
            <a:avLst/>
          </a:prstGeom>
          <a:solidFill>
            <a:srgbClr val="DD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31"/>
          <p:cNvPicPr preferRelativeResize="0"/>
          <p:nvPr/>
        </p:nvPicPr>
        <p:blipFill rotWithShape="1">
          <a:blip r:embed="rId3">
            <a:alphaModFix/>
          </a:blip>
          <a:srcRect b="0" l="0" r="2484" t="0"/>
          <a:stretch/>
        </p:blipFill>
        <p:spPr>
          <a:xfrm>
            <a:off x="-27720" y="4618482"/>
            <a:ext cx="2791240" cy="2239517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1"/>
          <p:cNvSpPr txBox="1"/>
          <p:nvPr>
            <p:ph type="title"/>
          </p:nvPr>
        </p:nvSpPr>
        <p:spPr>
          <a:xfrm>
            <a:off x="673734" y="-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Times New Roman"/>
              <a:buNone/>
            </a:pPr>
            <a:r>
              <a:rPr b="1" i="1" lang="ru-RU">
                <a:latin typeface="Times New Roman"/>
                <a:ea typeface="Times New Roman"/>
                <a:cs typeface="Times New Roman"/>
                <a:sym typeface="Times New Roman"/>
              </a:rPr>
              <a:t>Условные конструкции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1"/>
          <p:cNvSpPr/>
          <p:nvPr/>
        </p:nvSpPr>
        <p:spPr>
          <a:xfrm rot="-5400000">
            <a:off x="-1590853" y="1563133"/>
            <a:ext cx="3364040" cy="2377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1"/>
          <p:cNvSpPr/>
          <p:nvPr/>
        </p:nvSpPr>
        <p:spPr>
          <a:xfrm rot="5400000">
            <a:off x="9195614" y="3861615"/>
            <a:ext cx="5796000" cy="1967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1"/>
          <p:cNvSpPr txBox="1"/>
          <p:nvPr/>
        </p:nvSpPr>
        <p:spPr>
          <a:xfrm>
            <a:off x="1122858" y="1610677"/>
            <a:ext cx="4810760" cy="2942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If/else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Конструкция if/else позволяет проверить одно или же несколько условий и в случае если условие не будет верным, то выполнить другой код или проверить другое условие.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31"/>
          <p:cNvSpPr txBox="1"/>
          <p:nvPr/>
        </p:nvSpPr>
        <p:spPr>
          <a:xfrm>
            <a:off x="6258384" y="1610677"/>
            <a:ext cx="5047258" cy="3921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ru-RU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ru-RU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 – это инструмент для управления потоком выполнения программы. Он позволяет выбрать один из множества возможных путей выполнения на основе значения выражения.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/>
          <p:nvPr/>
        </p:nvSpPr>
        <p:spPr>
          <a:xfrm rot="-5400000">
            <a:off x="3436461" y="-1621634"/>
            <a:ext cx="5319077" cy="10969627"/>
          </a:xfrm>
          <a:prstGeom prst="rect">
            <a:avLst/>
          </a:prstGeom>
          <a:solidFill>
            <a:srgbClr val="DD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2"/>
          <p:cNvSpPr txBox="1"/>
          <p:nvPr>
            <p:ph type="title"/>
          </p:nvPr>
        </p:nvSpPr>
        <p:spPr>
          <a:xfrm>
            <a:off x="673734" y="-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Times New Roman"/>
              <a:buNone/>
            </a:pPr>
            <a:r>
              <a:rPr b="1" i="1" lang="ru-RU">
                <a:latin typeface="Times New Roman"/>
                <a:ea typeface="Times New Roman"/>
                <a:cs typeface="Times New Roman"/>
                <a:sym typeface="Times New Roman"/>
              </a:rPr>
              <a:t>Условные конструкции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32"/>
          <p:cNvSpPr/>
          <p:nvPr/>
        </p:nvSpPr>
        <p:spPr>
          <a:xfrm rot="-5400000">
            <a:off x="-1590853" y="1563133"/>
            <a:ext cx="3364040" cy="2377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2"/>
          <p:cNvSpPr/>
          <p:nvPr/>
        </p:nvSpPr>
        <p:spPr>
          <a:xfrm rot="5400000">
            <a:off x="9195614" y="3861615"/>
            <a:ext cx="5796000" cy="1967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2"/>
          <p:cNvSpPr txBox="1"/>
          <p:nvPr/>
        </p:nvSpPr>
        <p:spPr>
          <a:xfrm>
            <a:off x="2247521" y="1625601"/>
            <a:ext cx="1629992" cy="47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If/else</a:t>
            </a:r>
            <a:endParaRPr/>
          </a:p>
        </p:txBody>
      </p:sp>
      <p:sp>
        <p:nvSpPr>
          <p:cNvPr id="278" name="Google Shape;278;p32"/>
          <p:cNvSpPr txBox="1"/>
          <p:nvPr/>
        </p:nvSpPr>
        <p:spPr>
          <a:xfrm>
            <a:off x="8350960" y="1603495"/>
            <a:ext cx="1782966" cy="492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</a:t>
            </a:r>
            <a:endParaRPr/>
          </a:p>
        </p:txBody>
      </p:sp>
      <p:pic>
        <p:nvPicPr>
          <p:cNvPr id="279" name="Google Shape;27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9947" y="2096288"/>
            <a:ext cx="4665031" cy="4121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2"/>
          <p:cNvPicPr preferRelativeResize="0"/>
          <p:nvPr/>
        </p:nvPicPr>
        <p:blipFill rotWithShape="1">
          <a:blip r:embed="rId4">
            <a:alphaModFix/>
          </a:blip>
          <a:srcRect b="0" l="2865" r="0" t="0"/>
          <a:stretch/>
        </p:blipFill>
        <p:spPr>
          <a:xfrm>
            <a:off x="6630872" y="2096288"/>
            <a:ext cx="4668261" cy="4121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/>
          <p:nvPr/>
        </p:nvSpPr>
        <p:spPr>
          <a:xfrm rot="-5400000">
            <a:off x="3736362" y="-1287941"/>
            <a:ext cx="4760277" cy="9987284"/>
          </a:xfrm>
          <a:prstGeom prst="rect">
            <a:avLst/>
          </a:prstGeom>
          <a:solidFill>
            <a:srgbClr val="DD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673734" y="-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Times New Roman"/>
              <a:buNone/>
            </a:pPr>
            <a:r>
              <a:rPr b="1" i="1" lang="ru-RU">
                <a:latin typeface="Times New Roman"/>
                <a:ea typeface="Times New Roman"/>
                <a:cs typeface="Times New Roman"/>
                <a:sym typeface="Times New Roman"/>
              </a:rPr>
              <a:t>Логические операторы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33"/>
          <p:cNvSpPr txBox="1"/>
          <p:nvPr>
            <p:ph idx="3" type="body"/>
          </p:nvPr>
        </p:nvSpPr>
        <p:spPr>
          <a:xfrm>
            <a:off x="3964621" y="1494572"/>
            <a:ext cx="3933825" cy="1751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63B8"/>
              </a:buClr>
              <a:buSzPts val="2400"/>
              <a:buNone/>
            </a:pPr>
            <a:r>
              <a:rPr b="1" lang="ru-RU" sz="2400">
                <a:solidFill>
                  <a:srgbClr val="596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- логическое «И» (and)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963B8"/>
              </a:buClr>
              <a:buSzPts val="2400"/>
              <a:buNone/>
            </a:pPr>
            <a:r>
              <a:rPr b="1" i="0" lang="ru-RU" sz="2400">
                <a:solidFill>
                  <a:srgbClr val="596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- логическое «ИЛИ» (</a:t>
            </a:r>
            <a:r>
              <a:rPr b="1" lang="ru-RU" sz="2400">
                <a:solidFill>
                  <a:srgbClr val="596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r>
              <a:rPr b="1" i="0" lang="ru-RU" sz="2400">
                <a:solidFill>
                  <a:srgbClr val="596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288" name="Google Shape;288;p33"/>
          <p:cNvSpPr/>
          <p:nvPr/>
        </p:nvSpPr>
        <p:spPr>
          <a:xfrm rot="-5400000">
            <a:off x="-1563133" y="5057094"/>
            <a:ext cx="3364040" cy="2377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3"/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3"/>
          <p:cNvSpPr txBox="1"/>
          <p:nvPr/>
        </p:nvSpPr>
        <p:spPr>
          <a:xfrm>
            <a:off x="1081857" y="3493960"/>
            <a:ext cx="9987285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Отрицание используется для того чтобы показать несоответствие заданному условию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Логическое “и” – указывает, к примеру, что для выполнение той или иной функции должны быть истиной два условия из двух.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Логическое “или” – указывает, к примеру, что для выполнения той или иной функции должно быть истиной хотя бы одно из двух условий.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/>
          <p:nvPr/>
        </p:nvSpPr>
        <p:spPr>
          <a:xfrm rot="-5400000">
            <a:off x="3455706" y="-1831501"/>
            <a:ext cx="5319077" cy="11409680"/>
          </a:xfrm>
          <a:prstGeom prst="rect">
            <a:avLst/>
          </a:prstGeom>
          <a:solidFill>
            <a:srgbClr val="DD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4"/>
          <p:cNvSpPr txBox="1"/>
          <p:nvPr>
            <p:ph type="title"/>
          </p:nvPr>
        </p:nvSpPr>
        <p:spPr>
          <a:xfrm>
            <a:off x="673734" y="-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4400"/>
              <a:buFont typeface="Times New Roman"/>
              <a:buNone/>
            </a:pPr>
            <a:r>
              <a:rPr i="1" lang="ru-RU">
                <a:latin typeface="Times New Roman"/>
                <a:ea typeface="Times New Roman"/>
                <a:cs typeface="Times New Roman"/>
                <a:sym typeface="Times New Roman"/>
              </a:rPr>
              <a:t>Логические операторы</a:t>
            </a:r>
            <a:endParaRPr/>
          </a:p>
        </p:txBody>
      </p:sp>
      <p:sp>
        <p:nvSpPr>
          <p:cNvPr id="297" name="Google Shape;297;p34"/>
          <p:cNvSpPr/>
          <p:nvPr/>
        </p:nvSpPr>
        <p:spPr>
          <a:xfrm rot="-5400000">
            <a:off x="-1590853" y="1563133"/>
            <a:ext cx="3364040" cy="2377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4"/>
          <p:cNvSpPr/>
          <p:nvPr/>
        </p:nvSpPr>
        <p:spPr>
          <a:xfrm rot="5400000">
            <a:off x="9195614" y="3861615"/>
            <a:ext cx="5796000" cy="1967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4"/>
          <p:cNvSpPr txBox="1"/>
          <p:nvPr/>
        </p:nvSpPr>
        <p:spPr>
          <a:xfrm>
            <a:off x="3252919" y="1681956"/>
            <a:ext cx="1782966" cy="492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34"/>
          <p:cNvSpPr txBox="1"/>
          <p:nvPr/>
        </p:nvSpPr>
        <p:spPr>
          <a:xfrm>
            <a:off x="6932461" y="1695235"/>
            <a:ext cx="1782966" cy="492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ИЛИ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1" name="Google Shape;30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7181" y="2247528"/>
            <a:ext cx="2800741" cy="3928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0816" y="2247528"/>
            <a:ext cx="2800741" cy="391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Теплый синий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